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4"/>
  </p:sldMasterIdLst>
  <p:notesMasterIdLst>
    <p:notesMasterId r:id="rId25"/>
  </p:notesMasterIdLst>
  <p:sldIdLst>
    <p:sldId id="363" r:id="rId5"/>
    <p:sldId id="263" r:id="rId6"/>
    <p:sldId id="262" r:id="rId7"/>
    <p:sldId id="260" r:id="rId8"/>
    <p:sldId id="261" r:id="rId9"/>
    <p:sldId id="259" r:id="rId10"/>
    <p:sldId id="265" r:id="rId11"/>
    <p:sldId id="257" r:id="rId12"/>
    <p:sldId id="258" r:id="rId13"/>
    <p:sldId id="364" r:id="rId14"/>
    <p:sldId id="365" r:id="rId15"/>
    <p:sldId id="366" r:id="rId16"/>
    <p:sldId id="367" r:id="rId17"/>
    <p:sldId id="368" r:id="rId18"/>
    <p:sldId id="375" r:id="rId19"/>
    <p:sldId id="373" r:id="rId20"/>
    <p:sldId id="372" r:id="rId21"/>
    <p:sldId id="371" r:id="rId22"/>
    <p:sldId id="369" r:id="rId23"/>
    <p:sldId id="370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FFB8B0C-E2BB-4663-A137-440239FB3501}" v="13" dt="2025-06-12T20:58:35.10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90" d="100"/>
          <a:sy n="90" d="100"/>
        </p:scale>
        <p:origin x="2085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3" d="100"/>
          <a:sy n="83" d="100"/>
        </p:scale>
        <p:origin x="5844" y="7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HALIL, MOHAMED" userId="b0b60d53-1333-44b6-990f-4d9a70b6455c" providerId="ADAL" clId="{8FFB8B0C-E2BB-4663-A137-440239FB3501}"/>
    <pc:docChg chg="undo custSel addSld delSld modSld sldOrd">
      <pc:chgData name="KHALIL, MOHAMED" userId="b0b60d53-1333-44b6-990f-4d9a70b6455c" providerId="ADAL" clId="{8FFB8B0C-E2BB-4663-A137-440239FB3501}" dt="2025-06-12T21:05:44.255" v="171" actId="207"/>
      <pc:docMkLst>
        <pc:docMk/>
      </pc:docMkLst>
      <pc:sldChg chg="modSp mod">
        <pc:chgData name="KHALIL, MOHAMED" userId="b0b60d53-1333-44b6-990f-4d9a70b6455c" providerId="ADAL" clId="{8FFB8B0C-E2BB-4663-A137-440239FB3501}" dt="2025-06-12T20:58:27.021" v="124" actId="14100"/>
        <pc:sldMkLst>
          <pc:docMk/>
          <pc:sldMk cId="2584604401" sldId="368"/>
        </pc:sldMkLst>
        <pc:spChg chg="mod">
          <ac:chgData name="KHALIL, MOHAMED" userId="b0b60d53-1333-44b6-990f-4d9a70b6455c" providerId="ADAL" clId="{8FFB8B0C-E2BB-4663-A137-440239FB3501}" dt="2025-06-12T20:58:27.021" v="124" actId="14100"/>
          <ac:spMkLst>
            <pc:docMk/>
            <pc:sldMk cId="2584604401" sldId="368"/>
            <ac:spMk id="2" creationId="{F16F1312-F90A-9AFA-62F2-EFADDAEFF5CF}"/>
          </ac:spMkLst>
        </pc:spChg>
      </pc:sldChg>
      <pc:sldChg chg="modSp mod">
        <pc:chgData name="KHALIL, MOHAMED" userId="b0b60d53-1333-44b6-990f-4d9a70b6455c" providerId="ADAL" clId="{8FFB8B0C-E2BB-4663-A137-440239FB3501}" dt="2025-06-12T16:54:26.563" v="8" actId="403"/>
        <pc:sldMkLst>
          <pc:docMk/>
          <pc:sldMk cId="1313177327" sldId="371"/>
        </pc:sldMkLst>
        <pc:spChg chg="mod">
          <ac:chgData name="KHALIL, MOHAMED" userId="b0b60d53-1333-44b6-990f-4d9a70b6455c" providerId="ADAL" clId="{8FFB8B0C-E2BB-4663-A137-440239FB3501}" dt="2025-06-12T16:54:26.563" v="8" actId="403"/>
          <ac:spMkLst>
            <pc:docMk/>
            <pc:sldMk cId="1313177327" sldId="371"/>
            <ac:spMk id="2" creationId="{B228CC48-4E09-7C78-728C-8C6EB3AFCA1B}"/>
          </ac:spMkLst>
        </pc:spChg>
      </pc:sldChg>
      <pc:sldChg chg="addSp delSp modSp new mod ord">
        <pc:chgData name="KHALIL, MOHAMED" userId="b0b60d53-1333-44b6-990f-4d9a70b6455c" providerId="ADAL" clId="{8FFB8B0C-E2BB-4663-A137-440239FB3501}" dt="2025-06-12T17:20:53.731" v="107" actId="15"/>
        <pc:sldMkLst>
          <pc:docMk/>
          <pc:sldMk cId="1347872608" sldId="372"/>
        </pc:sldMkLst>
        <pc:spChg chg="mod">
          <ac:chgData name="KHALIL, MOHAMED" userId="b0b60d53-1333-44b6-990f-4d9a70b6455c" providerId="ADAL" clId="{8FFB8B0C-E2BB-4663-A137-440239FB3501}" dt="2025-06-12T17:02:27.572" v="50" actId="1076"/>
          <ac:spMkLst>
            <pc:docMk/>
            <pc:sldMk cId="1347872608" sldId="372"/>
            <ac:spMk id="2" creationId="{0E4F8FA6-0013-8842-940E-ABD321B61D05}"/>
          </ac:spMkLst>
        </pc:spChg>
        <pc:spChg chg="add del mod">
          <ac:chgData name="KHALIL, MOHAMED" userId="b0b60d53-1333-44b6-990f-4d9a70b6455c" providerId="ADAL" clId="{8FFB8B0C-E2BB-4663-A137-440239FB3501}" dt="2025-06-12T16:55:48.054" v="26" actId="478"/>
          <ac:spMkLst>
            <pc:docMk/>
            <pc:sldMk cId="1347872608" sldId="372"/>
            <ac:spMk id="6" creationId="{455D385F-3106-53E3-C7EC-F29EEEFBD539}"/>
          </ac:spMkLst>
        </pc:spChg>
        <pc:spChg chg="add del mod">
          <ac:chgData name="KHALIL, MOHAMED" userId="b0b60d53-1333-44b6-990f-4d9a70b6455c" providerId="ADAL" clId="{8FFB8B0C-E2BB-4663-A137-440239FB3501}" dt="2025-06-12T16:55:48.054" v="26" actId="478"/>
          <ac:spMkLst>
            <pc:docMk/>
            <pc:sldMk cId="1347872608" sldId="372"/>
            <ac:spMk id="7" creationId="{258C0D5C-8756-0C00-1F70-8FA120DA35C7}"/>
          </ac:spMkLst>
        </pc:spChg>
        <pc:spChg chg="add del mod">
          <ac:chgData name="KHALIL, MOHAMED" userId="b0b60d53-1333-44b6-990f-4d9a70b6455c" providerId="ADAL" clId="{8FFB8B0C-E2BB-4663-A137-440239FB3501}" dt="2025-06-12T16:55:48.054" v="26" actId="478"/>
          <ac:spMkLst>
            <pc:docMk/>
            <pc:sldMk cId="1347872608" sldId="372"/>
            <ac:spMk id="8" creationId="{59984141-C8BE-C0B4-7AF2-68F0EFF2DF50}"/>
          </ac:spMkLst>
        </pc:spChg>
        <pc:spChg chg="add del mod">
          <ac:chgData name="KHALIL, MOHAMED" userId="b0b60d53-1333-44b6-990f-4d9a70b6455c" providerId="ADAL" clId="{8FFB8B0C-E2BB-4663-A137-440239FB3501}" dt="2025-06-12T16:55:48.054" v="26" actId="478"/>
          <ac:spMkLst>
            <pc:docMk/>
            <pc:sldMk cId="1347872608" sldId="372"/>
            <ac:spMk id="9" creationId="{05D60417-1137-046B-FED2-9006B886F0C6}"/>
          </ac:spMkLst>
        </pc:spChg>
        <pc:spChg chg="add del mod">
          <ac:chgData name="KHALIL, MOHAMED" userId="b0b60d53-1333-44b6-990f-4d9a70b6455c" providerId="ADAL" clId="{8FFB8B0C-E2BB-4663-A137-440239FB3501}" dt="2025-06-12T16:55:48.054" v="26" actId="478"/>
          <ac:spMkLst>
            <pc:docMk/>
            <pc:sldMk cId="1347872608" sldId="372"/>
            <ac:spMk id="10" creationId="{50D22103-AA64-907F-4F2A-71422A69A2AB}"/>
          </ac:spMkLst>
        </pc:spChg>
        <pc:spChg chg="add del mod">
          <ac:chgData name="KHALIL, MOHAMED" userId="b0b60d53-1333-44b6-990f-4d9a70b6455c" providerId="ADAL" clId="{8FFB8B0C-E2BB-4663-A137-440239FB3501}" dt="2025-06-12T16:55:48.054" v="26" actId="478"/>
          <ac:spMkLst>
            <pc:docMk/>
            <pc:sldMk cId="1347872608" sldId="372"/>
            <ac:spMk id="11" creationId="{8041DB2B-2715-2C2F-655E-41BF9E05316A}"/>
          </ac:spMkLst>
        </pc:spChg>
        <pc:spChg chg="add del mod">
          <ac:chgData name="KHALIL, MOHAMED" userId="b0b60d53-1333-44b6-990f-4d9a70b6455c" providerId="ADAL" clId="{8FFB8B0C-E2BB-4663-A137-440239FB3501}" dt="2025-06-12T16:55:48.054" v="26" actId="478"/>
          <ac:spMkLst>
            <pc:docMk/>
            <pc:sldMk cId="1347872608" sldId="372"/>
            <ac:spMk id="12" creationId="{3A0D1CC9-667D-A932-2E9C-3C58D4BD9F59}"/>
          </ac:spMkLst>
        </pc:spChg>
        <pc:spChg chg="add del mod">
          <ac:chgData name="KHALIL, MOHAMED" userId="b0b60d53-1333-44b6-990f-4d9a70b6455c" providerId="ADAL" clId="{8FFB8B0C-E2BB-4663-A137-440239FB3501}" dt="2025-06-12T16:55:48.054" v="26" actId="478"/>
          <ac:spMkLst>
            <pc:docMk/>
            <pc:sldMk cId="1347872608" sldId="372"/>
            <ac:spMk id="13" creationId="{6CCA3B54-504A-0F23-F785-DE796B5C2C5A}"/>
          </ac:spMkLst>
        </pc:spChg>
        <pc:spChg chg="add del mod">
          <ac:chgData name="KHALIL, MOHAMED" userId="b0b60d53-1333-44b6-990f-4d9a70b6455c" providerId="ADAL" clId="{8FFB8B0C-E2BB-4663-A137-440239FB3501}" dt="2025-06-12T16:55:48.054" v="26" actId="478"/>
          <ac:spMkLst>
            <pc:docMk/>
            <pc:sldMk cId="1347872608" sldId="372"/>
            <ac:spMk id="14" creationId="{B9ACC6AF-17D3-D1EC-797B-F122E6544521}"/>
          </ac:spMkLst>
        </pc:spChg>
        <pc:spChg chg="add del mod">
          <ac:chgData name="KHALIL, MOHAMED" userId="b0b60d53-1333-44b6-990f-4d9a70b6455c" providerId="ADAL" clId="{8FFB8B0C-E2BB-4663-A137-440239FB3501}" dt="2025-06-12T16:55:48.054" v="26" actId="478"/>
          <ac:spMkLst>
            <pc:docMk/>
            <pc:sldMk cId="1347872608" sldId="372"/>
            <ac:spMk id="15" creationId="{765B87B1-0BFF-E02A-CD2A-3AE433779FBE}"/>
          </ac:spMkLst>
        </pc:spChg>
        <pc:spChg chg="add mod">
          <ac:chgData name="KHALIL, MOHAMED" userId="b0b60d53-1333-44b6-990f-4d9a70b6455c" providerId="ADAL" clId="{8FFB8B0C-E2BB-4663-A137-440239FB3501}" dt="2025-06-12T17:20:53.731" v="107" actId="15"/>
          <ac:spMkLst>
            <pc:docMk/>
            <pc:sldMk cId="1347872608" sldId="372"/>
            <ac:spMk id="17" creationId="{55198AD9-7F88-2744-06E9-AB65C22761ED}"/>
          </ac:spMkLst>
        </pc:spChg>
        <pc:spChg chg="add mod">
          <ac:chgData name="KHALIL, MOHAMED" userId="b0b60d53-1333-44b6-990f-4d9a70b6455c" providerId="ADAL" clId="{8FFB8B0C-E2BB-4663-A137-440239FB3501}" dt="2025-06-12T17:20:17.997" v="103" actId="14100"/>
          <ac:spMkLst>
            <pc:docMk/>
            <pc:sldMk cId="1347872608" sldId="372"/>
            <ac:spMk id="19" creationId="{50150021-B067-C55E-7DA4-476F9B6B156F}"/>
          </ac:spMkLst>
        </pc:spChg>
      </pc:sldChg>
      <pc:sldChg chg="addSp modSp new mod ord">
        <pc:chgData name="KHALIL, MOHAMED" userId="b0b60d53-1333-44b6-990f-4d9a70b6455c" providerId="ADAL" clId="{8FFB8B0C-E2BB-4663-A137-440239FB3501}" dt="2025-06-12T17:21:52.040" v="111" actId="14100"/>
        <pc:sldMkLst>
          <pc:docMk/>
          <pc:sldMk cId="1012995377" sldId="373"/>
        </pc:sldMkLst>
        <pc:spChg chg="mod">
          <ac:chgData name="KHALIL, MOHAMED" userId="b0b60d53-1333-44b6-990f-4d9a70b6455c" providerId="ADAL" clId="{8FFB8B0C-E2BB-4663-A137-440239FB3501}" dt="2025-06-12T17:03:22.056" v="72" actId="20577"/>
          <ac:spMkLst>
            <pc:docMk/>
            <pc:sldMk cId="1012995377" sldId="373"/>
            <ac:spMk id="2" creationId="{662C3E94-8FCD-28F1-DEAA-1E9C81EE451D}"/>
          </ac:spMkLst>
        </pc:spChg>
        <pc:spChg chg="add">
          <ac:chgData name="KHALIL, MOHAMED" userId="b0b60d53-1333-44b6-990f-4d9a70b6455c" providerId="ADAL" clId="{8FFB8B0C-E2BB-4663-A137-440239FB3501}" dt="2025-06-12T17:04:58.689" v="73"/>
          <ac:spMkLst>
            <pc:docMk/>
            <pc:sldMk cId="1012995377" sldId="373"/>
            <ac:spMk id="5" creationId="{E49C1D3E-49B6-D2B9-D465-2A531ECAF036}"/>
          </ac:spMkLst>
        </pc:spChg>
        <pc:spChg chg="add">
          <ac:chgData name="KHALIL, MOHAMED" userId="b0b60d53-1333-44b6-990f-4d9a70b6455c" providerId="ADAL" clId="{8FFB8B0C-E2BB-4663-A137-440239FB3501}" dt="2025-06-12T17:04:58.689" v="73"/>
          <ac:spMkLst>
            <pc:docMk/>
            <pc:sldMk cId="1012995377" sldId="373"/>
            <ac:spMk id="6" creationId="{0CD0B818-0706-F98F-7493-611FBD1BF170}"/>
          </ac:spMkLst>
        </pc:spChg>
        <pc:spChg chg="add">
          <ac:chgData name="KHALIL, MOHAMED" userId="b0b60d53-1333-44b6-990f-4d9a70b6455c" providerId="ADAL" clId="{8FFB8B0C-E2BB-4663-A137-440239FB3501}" dt="2025-06-12T17:04:58.689" v="73"/>
          <ac:spMkLst>
            <pc:docMk/>
            <pc:sldMk cId="1012995377" sldId="373"/>
            <ac:spMk id="7" creationId="{4E9B4050-7301-2032-9FC0-3FC888043E50}"/>
          </ac:spMkLst>
        </pc:spChg>
        <pc:spChg chg="add">
          <ac:chgData name="KHALIL, MOHAMED" userId="b0b60d53-1333-44b6-990f-4d9a70b6455c" providerId="ADAL" clId="{8FFB8B0C-E2BB-4663-A137-440239FB3501}" dt="2025-06-12T17:04:58.689" v="73"/>
          <ac:spMkLst>
            <pc:docMk/>
            <pc:sldMk cId="1012995377" sldId="373"/>
            <ac:spMk id="8" creationId="{0D1FCE76-EF40-5F8F-1BC1-2A7478E3335F}"/>
          </ac:spMkLst>
        </pc:spChg>
        <pc:spChg chg="add">
          <ac:chgData name="KHALIL, MOHAMED" userId="b0b60d53-1333-44b6-990f-4d9a70b6455c" providerId="ADAL" clId="{8FFB8B0C-E2BB-4663-A137-440239FB3501}" dt="2025-06-12T17:04:58.689" v="73"/>
          <ac:spMkLst>
            <pc:docMk/>
            <pc:sldMk cId="1012995377" sldId="373"/>
            <ac:spMk id="9" creationId="{7587C13E-92A4-5464-D431-CE4D183A130B}"/>
          </ac:spMkLst>
        </pc:spChg>
        <pc:spChg chg="add mod">
          <ac:chgData name="KHALIL, MOHAMED" userId="b0b60d53-1333-44b6-990f-4d9a70b6455c" providerId="ADAL" clId="{8FFB8B0C-E2BB-4663-A137-440239FB3501}" dt="2025-06-12T17:21:52.040" v="111" actId="14100"/>
          <ac:spMkLst>
            <pc:docMk/>
            <pc:sldMk cId="1012995377" sldId="373"/>
            <ac:spMk id="11" creationId="{E0D4E882-717D-D4E5-C158-B92B4759ACFB}"/>
          </ac:spMkLst>
        </pc:spChg>
        <pc:spChg chg="add mod">
          <ac:chgData name="KHALIL, MOHAMED" userId="b0b60d53-1333-44b6-990f-4d9a70b6455c" providerId="ADAL" clId="{8FFB8B0C-E2BB-4663-A137-440239FB3501}" dt="2025-06-12T17:21:48.022" v="110" actId="14100"/>
          <ac:spMkLst>
            <pc:docMk/>
            <pc:sldMk cId="1012995377" sldId="373"/>
            <ac:spMk id="13" creationId="{A3F6B33E-54B0-D975-598B-9DE5B9D4A9D6}"/>
          </ac:spMkLst>
        </pc:spChg>
      </pc:sldChg>
      <pc:sldChg chg="modSp new del mod">
        <pc:chgData name="KHALIL, MOHAMED" userId="b0b60d53-1333-44b6-990f-4d9a70b6455c" providerId="ADAL" clId="{8FFB8B0C-E2BB-4663-A137-440239FB3501}" dt="2025-06-12T20:56:09.501" v="123" actId="47"/>
        <pc:sldMkLst>
          <pc:docMk/>
          <pc:sldMk cId="3234484722" sldId="374"/>
        </pc:sldMkLst>
        <pc:spChg chg="mod">
          <ac:chgData name="KHALIL, MOHAMED" userId="b0b60d53-1333-44b6-990f-4d9a70b6455c" providerId="ADAL" clId="{8FFB8B0C-E2BB-4663-A137-440239FB3501}" dt="2025-06-12T20:56:06.353" v="122" actId="6549"/>
          <ac:spMkLst>
            <pc:docMk/>
            <pc:sldMk cId="3234484722" sldId="374"/>
            <ac:spMk id="4" creationId="{1265E129-B189-1E88-DF4B-3E53FF509976}"/>
          </ac:spMkLst>
        </pc:spChg>
      </pc:sldChg>
      <pc:sldChg chg="addSp delSp modSp new mod">
        <pc:chgData name="KHALIL, MOHAMED" userId="b0b60d53-1333-44b6-990f-4d9a70b6455c" providerId="ADAL" clId="{8FFB8B0C-E2BB-4663-A137-440239FB3501}" dt="2025-06-12T21:05:44.255" v="171" actId="207"/>
        <pc:sldMkLst>
          <pc:docMk/>
          <pc:sldMk cId="2566713956" sldId="375"/>
        </pc:sldMkLst>
        <pc:spChg chg="del mod">
          <ac:chgData name="KHALIL, MOHAMED" userId="b0b60d53-1333-44b6-990f-4d9a70b6455c" providerId="ADAL" clId="{8FFB8B0C-E2BB-4663-A137-440239FB3501}" dt="2025-06-12T20:55:57.001" v="121" actId="478"/>
          <ac:spMkLst>
            <pc:docMk/>
            <pc:sldMk cId="2566713956" sldId="375"/>
            <ac:spMk id="3" creationId="{FFFD0EE5-D378-6D3D-E85B-3BE1BCBC82D0}"/>
          </ac:spMkLst>
        </pc:spChg>
        <pc:spChg chg="add mod">
          <ac:chgData name="KHALIL, MOHAMED" userId="b0b60d53-1333-44b6-990f-4d9a70b6455c" providerId="ADAL" clId="{8FFB8B0C-E2BB-4663-A137-440239FB3501}" dt="2025-06-12T20:55:47.227" v="119" actId="1076"/>
          <ac:spMkLst>
            <pc:docMk/>
            <pc:sldMk cId="2566713956" sldId="375"/>
            <ac:spMk id="5" creationId="{E7210F16-B6E3-1C6B-C90D-71C91C873F43}"/>
          </ac:spMkLst>
        </pc:spChg>
        <pc:spChg chg="add mod">
          <ac:chgData name="KHALIL, MOHAMED" userId="b0b60d53-1333-44b6-990f-4d9a70b6455c" providerId="ADAL" clId="{8FFB8B0C-E2BB-4663-A137-440239FB3501}" dt="2025-06-12T20:55:35.249" v="117" actId="571"/>
          <ac:spMkLst>
            <pc:docMk/>
            <pc:sldMk cId="2566713956" sldId="375"/>
            <ac:spMk id="7" creationId="{2961D42A-9B2D-69FB-2918-5C48160D76D8}"/>
          </ac:spMkLst>
        </pc:spChg>
        <pc:spChg chg="add mod">
          <ac:chgData name="KHALIL, MOHAMED" userId="b0b60d53-1333-44b6-990f-4d9a70b6455c" providerId="ADAL" clId="{8FFB8B0C-E2BB-4663-A137-440239FB3501}" dt="2025-06-12T20:58:50.808" v="147" actId="20577"/>
          <ac:spMkLst>
            <pc:docMk/>
            <pc:sldMk cId="2566713956" sldId="375"/>
            <ac:spMk id="8" creationId="{3A5A9864-E937-EA69-8102-1247CF53C568}"/>
          </ac:spMkLst>
        </pc:spChg>
        <pc:graphicFrameChg chg="add mod modGraphic">
          <ac:chgData name="KHALIL, MOHAMED" userId="b0b60d53-1333-44b6-990f-4d9a70b6455c" providerId="ADAL" clId="{8FFB8B0C-E2BB-4663-A137-440239FB3501}" dt="2025-06-12T21:05:44.255" v="171" actId="207"/>
          <ac:graphicFrameMkLst>
            <pc:docMk/>
            <pc:sldMk cId="2566713956" sldId="375"/>
            <ac:graphicFrameMk id="4" creationId="{BD7E4967-AE8E-1369-A7FC-AB9BDFAF8CF8}"/>
          </ac:graphicFrameMkLst>
        </pc:graphicFrameChg>
        <pc:graphicFrameChg chg="add mod">
          <ac:chgData name="KHALIL, MOHAMED" userId="b0b60d53-1333-44b6-990f-4d9a70b6455c" providerId="ADAL" clId="{8FFB8B0C-E2BB-4663-A137-440239FB3501}" dt="2025-06-12T20:55:35.249" v="117" actId="571"/>
          <ac:graphicFrameMkLst>
            <pc:docMk/>
            <pc:sldMk cId="2566713956" sldId="375"/>
            <ac:graphicFrameMk id="6" creationId="{5A6C1E1D-5EA3-BB79-C387-EA8E3DB441B4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D337C1-D822-454D-AEDF-E7BACC49681B}" type="datetimeFigureOut">
              <a:rPr lang="en-US" smtClean="0"/>
              <a:t>6/12/2025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434A5D-AB8A-40B8-8C5F-C7F4BE6CE99D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8F52D05-FA27-61DC-9487-BEABAE426F5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3746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ig 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/>
          <p:cNvSpPr>
            <a:spLocks noGrp="1"/>
          </p:cNvSpPr>
          <p:nvPr>
            <p:ph type="title" hasCustomPrompt="1"/>
          </p:nvPr>
        </p:nvSpPr>
        <p:spPr>
          <a:xfrm>
            <a:off x="263088" y="315137"/>
            <a:ext cx="8702271" cy="4655326"/>
          </a:xfrm>
          <a:effectLst/>
        </p:spPr>
        <p:txBody>
          <a:bodyPr anchor="t" anchorCtr="0"/>
          <a:lstStyle>
            <a:lvl1pPr>
              <a:lnSpc>
                <a:spcPct val="80000"/>
              </a:lnSpc>
              <a:spcAft>
                <a:spcPts val="0"/>
              </a:spcAft>
              <a:defRPr sz="9600" b="0" i="0">
                <a:solidFill>
                  <a:schemeClr val="tx2"/>
                </a:solidFill>
                <a:latin typeface="ATT Aleck Sans Medium" panose="020B0503020203020204" pitchFamily="34" charset="0"/>
                <a:cs typeface="ATT Aleck Sans Medium" panose="020B0503020203020204" pitchFamily="34" charset="0"/>
              </a:defRPr>
            </a:lvl1pPr>
          </a:lstStyle>
          <a:p>
            <a:r>
              <a:rPr lang="en-US"/>
              <a:t>[Presentation title]</a:t>
            </a:r>
          </a:p>
        </p:txBody>
      </p:sp>
      <p:sp>
        <p:nvSpPr>
          <p:cNvPr id="4" name="Subtitle Placeholder"/>
          <p:cNvSpPr>
            <a:spLocks noGrp="1"/>
          </p:cNvSpPr>
          <p:nvPr>
            <p:ph type="body" sz="quarter" idx="18" hasCustomPrompt="1"/>
          </p:nvPr>
        </p:nvSpPr>
        <p:spPr>
          <a:xfrm>
            <a:off x="334689" y="5166360"/>
            <a:ext cx="5761311" cy="713232"/>
          </a:xfrm>
          <a:effectLst/>
        </p:spPr>
        <p:txBody>
          <a:bodyPr anchor="t"/>
          <a:lstStyle>
            <a:lvl1pPr marL="0">
              <a:lnSpc>
                <a:spcPct val="100000"/>
              </a:lnSpc>
              <a:spcAft>
                <a:spcPts val="0"/>
              </a:spcAft>
              <a:buClrTx/>
              <a:buFontTx/>
              <a:buNone/>
              <a:defRPr sz="1800">
                <a:solidFill>
                  <a:schemeClr val="tx1"/>
                </a:solidFill>
              </a:defRPr>
            </a:lvl1pPr>
            <a:lvl2pPr marL="0">
              <a:lnSpc>
                <a:spcPct val="100000"/>
              </a:lnSpc>
              <a:spcAft>
                <a:spcPts val="0"/>
              </a:spcAft>
              <a:buClrTx/>
              <a:buFontTx/>
              <a:buNone/>
              <a:defRPr sz="1800">
                <a:solidFill>
                  <a:schemeClr val="tx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ClrTx/>
              <a:buFontTx/>
              <a:buNone/>
              <a:defRPr sz="1800">
                <a:solidFill>
                  <a:schemeClr val="tx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ClrTx/>
              <a:buFontTx/>
              <a:buNone/>
              <a:defRPr sz="1800">
                <a:solidFill>
                  <a:schemeClr val="tx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ClrTx/>
              <a:buFontTx/>
              <a:buNone/>
              <a:defRPr sz="1800">
                <a:solidFill>
                  <a:schemeClr val="tx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ClrTx/>
              <a:buFontTx/>
              <a:buNone/>
              <a:defRPr sz="1800">
                <a:solidFill>
                  <a:schemeClr val="tx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ClrTx/>
              <a:buFontTx/>
              <a:buNone/>
              <a:defRPr sz="1800">
                <a:solidFill>
                  <a:schemeClr val="tx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ClrTx/>
              <a:buFontTx/>
              <a:buNone/>
              <a:defRPr sz="1800">
                <a:solidFill>
                  <a:schemeClr val="tx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ClrTx/>
              <a:buFontTx/>
              <a:buNone/>
              <a:defRPr sz="18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[Optional subtitle]</a:t>
            </a:r>
          </a:p>
        </p:txBody>
      </p:sp>
      <p:sp>
        <p:nvSpPr>
          <p:cNvPr id="7" name="Text Box">
            <a:extLst>
              <a:ext uri="{FF2B5EF4-FFF2-40B4-BE49-F238E27FC236}">
                <a16:creationId xmlns:a16="http://schemas.microsoft.com/office/drawing/2014/main" id="{5E861747-F6BD-2B4E-8905-D6F5FB3BEBA5}"/>
              </a:ext>
            </a:extLst>
          </p:cNvPr>
          <p:cNvSpPr txBox="1"/>
          <p:nvPr/>
        </p:nvSpPr>
        <p:spPr>
          <a:xfrm>
            <a:off x="347753" y="6176891"/>
            <a:ext cx="5748246" cy="3302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 anchorCtr="0">
            <a:noAutofit/>
          </a:bodyPr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>
                <a:solidFill>
                  <a:schemeClr val="tx1"/>
                </a:solidFill>
              </a:rPr>
              <a:t>© 2021 AT&amp;T. AT&amp;T, Globe logo, and DIRECTV are registered trademarks and service marks of </a:t>
            </a:r>
            <a:br>
              <a:rPr lang="en-US" sz="600">
                <a:solidFill>
                  <a:schemeClr val="tx1"/>
                </a:solidFill>
              </a:rPr>
            </a:br>
            <a:r>
              <a:rPr lang="en-US" sz="600">
                <a:solidFill>
                  <a:schemeClr val="tx1"/>
                </a:solidFill>
              </a:rPr>
              <a:t>AT&amp;T and/or AT&amp;T affiliated companies. All other marks are the property of their respective owners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600" b="1">
              <a:solidFill>
                <a:schemeClr val="tx1"/>
              </a:solidFill>
            </a:endParaRP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b="1">
                <a:solidFill>
                  <a:schemeClr val="tx1"/>
                </a:solidFill>
              </a:rPr>
              <a:t>AT&amp;T Proprietary (Internal Use Only) - Shared under NDA - Not for use or disclosure outside the AT&amp;T companies except under written agreement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6E7DD58-94C6-4387-A911-3BE708BBB71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9966" y="6005661"/>
            <a:ext cx="1451979" cy="715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64903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mall 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/>
          <p:cNvSpPr>
            <a:spLocks noGrp="1"/>
          </p:cNvSpPr>
          <p:nvPr>
            <p:ph type="title" hasCustomPrompt="1"/>
          </p:nvPr>
        </p:nvSpPr>
        <p:spPr>
          <a:xfrm>
            <a:off x="290806" y="245863"/>
            <a:ext cx="8674555" cy="1636913"/>
          </a:xfrm>
          <a:effectLst/>
        </p:spPr>
        <p:txBody>
          <a:bodyPr anchor="t" anchorCtr="0"/>
          <a:lstStyle>
            <a:lvl1pPr>
              <a:lnSpc>
                <a:spcPct val="90000"/>
              </a:lnSpc>
              <a:spcAft>
                <a:spcPts val="0"/>
              </a:spcAft>
              <a:defRPr sz="6000" b="0" i="0">
                <a:solidFill>
                  <a:schemeClr val="tx2"/>
                </a:solidFill>
                <a:latin typeface="ATT Aleck Sans Medium" panose="020B0503020203020204" pitchFamily="34" charset="0"/>
                <a:cs typeface="ATT Aleck Sans Medium" panose="020B0503020203020204" pitchFamily="34" charset="0"/>
              </a:defRPr>
            </a:lvl1pPr>
          </a:lstStyle>
          <a:p>
            <a:r>
              <a:rPr lang="en-US"/>
              <a:t>[Presentation title]</a:t>
            </a:r>
          </a:p>
        </p:txBody>
      </p:sp>
      <p:sp>
        <p:nvSpPr>
          <p:cNvPr id="4" name="Text Placeholder"/>
          <p:cNvSpPr>
            <a:spLocks noGrp="1"/>
          </p:cNvSpPr>
          <p:nvPr>
            <p:ph type="body" sz="quarter" idx="18" hasCustomPrompt="1"/>
          </p:nvPr>
        </p:nvSpPr>
        <p:spPr>
          <a:xfrm>
            <a:off x="334689" y="2071376"/>
            <a:ext cx="5761311" cy="713232"/>
          </a:xfrm>
          <a:effectLst/>
        </p:spPr>
        <p:txBody>
          <a:bodyPr anchor="t"/>
          <a:lstStyle>
            <a:lvl1pPr marL="0">
              <a:lnSpc>
                <a:spcPct val="100000"/>
              </a:lnSpc>
              <a:spcAft>
                <a:spcPts val="0"/>
              </a:spcAft>
              <a:buClrTx/>
              <a:buFontTx/>
              <a:buNone/>
              <a:defRPr sz="1800">
                <a:solidFill>
                  <a:schemeClr val="tx1"/>
                </a:solidFill>
              </a:defRPr>
            </a:lvl1pPr>
            <a:lvl2pPr marL="0">
              <a:lnSpc>
                <a:spcPct val="100000"/>
              </a:lnSpc>
              <a:spcAft>
                <a:spcPts val="0"/>
              </a:spcAft>
              <a:buClrTx/>
              <a:buFontTx/>
              <a:buNone/>
              <a:defRPr sz="1800">
                <a:solidFill>
                  <a:schemeClr val="tx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ClrTx/>
              <a:buFontTx/>
              <a:buNone/>
              <a:defRPr sz="1800">
                <a:solidFill>
                  <a:schemeClr val="tx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ClrTx/>
              <a:buFontTx/>
              <a:buNone/>
              <a:defRPr sz="1800">
                <a:solidFill>
                  <a:schemeClr val="tx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ClrTx/>
              <a:buFontTx/>
              <a:buNone/>
              <a:defRPr sz="1800">
                <a:solidFill>
                  <a:schemeClr val="tx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ClrTx/>
              <a:buFontTx/>
              <a:buNone/>
              <a:defRPr sz="1800">
                <a:solidFill>
                  <a:schemeClr val="tx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ClrTx/>
              <a:buFontTx/>
              <a:buNone/>
              <a:defRPr sz="1800">
                <a:solidFill>
                  <a:schemeClr val="tx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ClrTx/>
              <a:buFontTx/>
              <a:buNone/>
              <a:defRPr sz="1800">
                <a:solidFill>
                  <a:schemeClr val="tx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ClrTx/>
              <a:buFontTx/>
              <a:buNone/>
              <a:defRPr sz="18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[Optional subtitle]</a:t>
            </a:r>
          </a:p>
        </p:txBody>
      </p:sp>
      <p:sp>
        <p:nvSpPr>
          <p:cNvPr id="7" name="Text Box">
            <a:extLst>
              <a:ext uri="{FF2B5EF4-FFF2-40B4-BE49-F238E27FC236}">
                <a16:creationId xmlns:a16="http://schemas.microsoft.com/office/drawing/2014/main" id="{71C472D9-27CE-418D-B85E-A4B1AFFCA23A}"/>
              </a:ext>
            </a:extLst>
          </p:cNvPr>
          <p:cNvSpPr txBox="1"/>
          <p:nvPr userDrawn="1"/>
        </p:nvSpPr>
        <p:spPr>
          <a:xfrm>
            <a:off x="347753" y="6176891"/>
            <a:ext cx="5748246" cy="3302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 anchorCtr="0">
            <a:noAutofit/>
          </a:bodyPr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>
                <a:solidFill>
                  <a:schemeClr val="tx1"/>
                </a:solidFill>
              </a:rPr>
              <a:t>© 2021 AT&amp;T. AT&amp;T, Globe logo, and DIRECTV are registered trademarks and service marks of </a:t>
            </a:r>
            <a:br>
              <a:rPr lang="en-US" sz="600">
                <a:solidFill>
                  <a:schemeClr val="tx1"/>
                </a:solidFill>
              </a:rPr>
            </a:br>
            <a:r>
              <a:rPr lang="en-US" sz="600">
                <a:solidFill>
                  <a:schemeClr val="tx1"/>
                </a:solidFill>
              </a:rPr>
              <a:t>AT&amp;T and/or AT&amp;T affiliated companies. All other marks are the property of their respective owners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600" b="1">
              <a:solidFill>
                <a:schemeClr val="tx1"/>
              </a:solidFill>
            </a:endParaRP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b="1">
                <a:solidFill>
                  <a:schemeClr val="tx1"/>
                </a:solidFill>
              </a:rPr>
              <a:t>AT&amp;T Proprietary (Internal Use Only) - Shared under NDA - Not for use or disclosure outside the AT&amp;T companies except under written agreement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0D48E13-5AC4-4D81-8F5A-56905755586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9966" y="6005661"/>
            <a:ext cx="1451979" cy="715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40453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ivid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/>
          <p:cNvSpPr>
            <a:spLocks noGrp="1"/>
          </p:cNvSpPr>
          <p:nvPr>
            <p:ph type="title" hasCustomPrompt="1"/>
          </p:nvPr>
        </p:nvSpPr>
        <p:spPr>
          <a:xfrm>
            <a:off x="292684" y="246888"/>
            <a:ext cx="10109738" cy="2511058"/>
          </a:xfrm>
          <a:effectLst/>
        </p:spPr>
        <p:txBody>
          <a:bodyPr anchor="t" anchorCtr="0"/>
          <a:lstStyle>
            <a:lvl1pPr>
              <a:lnSpc>
                <a:spcPct val="90000"/>
              </a:lnSpc>
              <a:spcAft>
                <a:spcPts val="0"/>
              </a:spcAft>
              <a:defRPr sz="6000" b="0" i="0">
                <a:solidFill>
                  <a:schemeClr val="bg1"/>
                </a:solidFill>
                <a:latin typeface="ATT Aleck Sans Medium" panose="020B0503020203020204" pitchFamily="34" charset="0"/>
                <a:cs typeface="ATT Aleck Sans Medium" panose="020B0503020203020204" pitchFamily="34" charset="0"/>
              </a:defRPr>
            </a:lvl1pPr>
          </a:lstStyle>
          <a:p>
            <a:r>
              <a:rPr lang="en-US"/>
              <a:t>[Section divider title]</a:t>
            </a:r>
          </a:p>
        </p:txBody>
      </p:sp>
      <p:sp>
        <p:nvSpPr>
          <p:cNvPr id="5" name="Text Placeholder">
            <a:extLst>
              <a:ext uri="{FF2B5EF4-FFF2-40B4-BE49-F238E27FC236}">
                <a16:creationId xmlns:a16="http://schemas.microsoft.com/office/drawing/2014/main" id="{39714527-FCC7-B147-AF40-40DA070BE47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5080" y="3414782"/>
            <a:ext cx="5760921" cy="1555680"/>
          </a:xfrm>
        </p:spPr>
        <p:txBody>
          <a:bodyPr/>
          <a:lstStyle>
            <a:lvl1pPr>
              <a:defRPr sz="1400">
                <a:solidFill>
                  <a:schemeClr val="bg1"/>
                </a:solidFill>
              </a:defRPr>
            </a:lvl1pPr>
            <a:lvl2pPr marL="0" indent="0">
              <a:buNone/>
              <a:defRPr>
                <a:solidFill>
                  <a:schemeClr val="bg1"/>
                </a:solidFill>
              </a:defRPr>
            </a:lvl2pPr>
            <a:lvl3pPr marL="228600" indent="0">
              <a:buNone/>
              <a:defRPr/>
            </a:lvl3pPr>
            <a:lvl4pPr marL="4572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2" name="Slide Number Placeholder">
            <a:extLst>
              <a:ext uri="{FF2B5EF4-FFF2-40B4-BE49-F238E27FC236}">
                <a16:creationId xmlns:a16="http://schemas.microsoft.com/office/drawing/2014/main" id="{A5D6ECD3-2A6B-C148-87A6-983275D4351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340565" y="6494061"/>
            <a:ext cx="722839" cy="19202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4E3109C-F841-A249-A33C-708B7DCDEF1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Footer Placeholder">
            <a:extLst>
              <a:ext uri="{FF2B5EF4-FFF2-40B4-BE49-F238E27FC236}">
                <a16:creationId xmlns:a16="http://schemas.microsoft.com/office/drawing/2014/main" id="{E14FC8C8-B3CF-7340-BDD3-D7C39E58108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063405" y="6494061"/>
            <a:ext cx="5403204" cy="19202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2022 5GIS Sponsor Summit / Nov 8, 2021 / © 2021 AT&amp;T - AT&amp;T Proprietary (Internal Use Only) - Shared under NDA </a:t>
            </a:r>
          </a:p>
        </p:txBody>
      </p:sp>
      <p:cxnSp>
        <p:nvCxnSpPr>
          <p:cNvPr id="6" name="Straight Connector">
            <a:extLst>
              <a:ext uri="{FF2B5EF4-FFF2-40B4-BE49-F238E27FC236}">
                <a16:creationId xmlns:a16="http://schemas.microsoft.com/office/drawing/2014/main" id="{648CFAC4-3F6A-4249-9F48-503A85B316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47754" y="6389653"/>
            <a:ext cx="11491730" cy="0"/>
          </a:xfrm>
          <a:prstGeom prst="line">
            <a:avLst/>
          </a:prstGeom>
          <a:ln w="6350" cap="sq"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BD3AB9EE-BAE8-427D-A4A4-C9C3250A2DC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05029" y="6411739"/>
            <a:ext cx="744218" cy="366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11022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+ content (1 colum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83E8D14E-206A-3947-B30D-7D15E18DD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9270" y="283464"/>
            <a:ext cx="11509903" cy="86266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">
            <a:extLst>
              <a:ext uri="{FF2B5EF4-FFF2-40B4-BE49-F238E27FC236}">
                <a16:creationId xmlns:a16="http://schemas.microsoft.com/office/drawing/2014/main" id="{6DE0EB1B-D8BA-CE4B-A4F4-8B0F7363ABF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29581" y="1822440"/>
            <a:ext cx="11506148" cy="4338648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278115E9-2E33-F542-A64E-289B972B09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E3109C-F841-A249-A33C-708B7DCDEF14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2EA2E8BB-F158-E34E-8F56-F2CA182AC79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2022 5GIS Sponsor Summit / Nov 8, 2021 / © 2021 AT&amp;T - AT&amp;T Proprietary (Internal Use Only) - Shared under NDA </a:t>
            </a:r>
          </a:p>
        </p:txBody>
      </p:sp>
      <p:cxnSp>
        <p:nvCxnSpPr>
          <p:cNvPr id="7" name="Straight Connector">
            <a:extLst>
              <a:ext uri="{FF2B5EF4-FFF2-40B4-BE49-F238E27FC236}">
                <a16:creationId xmlns:a16="http://schemas.microsoft.com/office/drawing/2014/main" id="{FEA13839-5F72-2046-B228-6DC99C91AD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47754" y="6389653"/>
            <a:ext cx="11491730" cy="0"/>
          </a:xfrm>
          <a:prstGeom prst="line">
            <a:avLst/>
          </a:prstGeom>
          <a:noFill/>
          <a:ln w="6350" cap="sq" cmpd="sng" algn="ctr">
            <a:solidFill>
              <a:srgbClr val="000000"/>
            </a:solidFill>
            <a:prstDash val="solid"/>
          </a:ln>
          <a:effectLst/>
        </p:spPr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6C3A6A8D-74A3-4012-8FDF-CE7DBAD5DDA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40013" y="6404924"/>
            <a:ext cx="722839" cy="356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4647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+ content (2 colum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83E8D14E-206A-3947-B30D-7D15E18DD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9270" y="283464"/>
            <a:ext cx="11510213" cy="86266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6DE0EB1B-D8BA-CE4B-A4F4-8B0F7363ABF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29270" y="1822036"/>
            <a:ext cx="5538071" cy="43390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BF22142-DBAA-3A4F-BA95-BE2DD864A8DF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299967" y="1822037"/>
            <a:ext cx="5533561" cy="43390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278115E9-2E33-F542-A64E-289B972B09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E3109C-F841-A249-A33C-708B7DCDEF14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E3A9557D-E65C-3F46-9C93-D074555B98EB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2022 5GIS Sponsor Summit / Nov 8, 2021 / © 2021 AT&amp;T - AT&amp;T Proprietary (Internal Use Only) - Shared under NDA </a:t>
            </a:r>
          </a:p>
        </p:txBody>
      </p:sp>
      <p:cxnSp>
        <p:nvCxnSpPr>
          <p:cNvPr id="8" name="Straight Connector">
            <a:extLst>
              <a:ext uri="{FF2B5EF4-FFF2-40B4-BE49-F238E27FC236}">
                <a16:creationId xmlns:a16="http://schemas.microsoft.com/office/drawing/2014/main" id="{A0C418EE-6460-8E42-8C30-54DF8EF556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47754" y="6389653"/>
            <a:ext cx="11491730" cy="0"/>
          </a:xfrm>
          <a:prstGeom prst="line">
            <a:avLst/>
          </a:prstGeom>
          <a:noFill/>
          <a:ln w="6350" cap="sq" cmpd="sng" algn="ctr">
            <a:solidFill>
              <a:srgbClr val="000000"/>
            </a:solidFill>
            <a:prstDash val="solid"/>
          </a:ln>
          <a:effectLst/>
        </p:spPr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0D6BC2D4-40A6-4FF2-A9A2-2ED9BB39B5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40013" y="6404924"/>
            <a:ext cx="722839" cy="356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250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+ content (3 colum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83E8D14E-206A-3947-B30D-7D15E18DD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9270" y="283464"/>
            <a:ext cx="11510213" cy="86266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6DE0EB1B-D8BA-CE4B-A4F4-8B0F7363ABF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29270" y="1822035"/>
            <a:ext cx="3475625" cy="43368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BF22142-DBAA-3A4F-BA95-BE2DD864A8DF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346564" y="1822036"/>
            <a:ext cx="3475625" cy="43355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73C7F918-8831-034A-8C00-253A50C274C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63858" y="1822036"/>
            <a:ext cx="3475625" cy="43390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278115E9-2E33-F542-A64E-289B972B09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E3109C-F841-A249-A33C-708B7DCDEF14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604638E5-7A89-3D4A-B0E3-E3C0BF34E9E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2022 5GIS Sponsor Summit / Nov 8, 2021 / © 2021 AT&amp;T - AT&amp;T Proprietary (Internal Use Only) - Shared under NDA </a:t>
            </a:r>
          </a:p>
        </p:txBody>
      </p:sp>
      <p:cxnSp>
        <p:nvCxnSpPr>
          <p:cNvPr id="9" name="Straight Connector">
            <a:extLst>
              <a:ext uri="{FF2B5EF4-FFF2-40B4-BE49-F238E27FC236}">
                <a16:creationId xmlns:a16="http://schemas.microsoft.com/office/drawing/2014/main" id="{A033881D-54A3-0A48-AB72-ECF64E6D02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47754" y="6389653"/>
            <a:ext cx="11491730" cy="0"/>
          </a:xfrm>
          <a:prstGeom prst="line">
            <a:avLst/>
          </a:prstGeom>
          <a:noFill/>
          <a:ln w="6350" cap="sq" cmpd="sng" algn="ctr">
            <a:solidFill>
              <a:srgbClr val="000000"/>
            </a:solidFill>
            <a:prstDash val="solid"/>
          </a:ln>
          <a:effectLst/>
        </p:spPr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7983C5B5-EB9E-4048-998B-3A0DADBE582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40013" y="6404924"/>
            <a:ext cx="722839" cy="356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18702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content (4 colum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83E8D14E-206A-3947-B30D-7D15E18DD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9270" y="283464"/>
            <a:ext cx="11742472" cy="86266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6DE0EB1B-D8BA-CE4B-A4F4-8B0F7363ABF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29270" y="1822035"/>
            <a:ext cx="2707329" cy="43368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BF22142-DBAA-3A4F-BA95-BE2DD864A8DF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264441" y="1822036"/>
            <a:ext cx="2707329" cy="43355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73C7F918-8831-034A-8C00-253A50C274C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99612" y="1822036"/>
            <a:ext cx="2707329" cy="43390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D6008138-E871-7042-B79E-B1592A15A6E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9134783" y="1822036"/>
            <a:ext cx="2707329" cy="43390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278115E9-2E33-F542-A64E-289B972B09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E3109C-F841-A249-A33C-708B7DCDEF14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0F58A795-A68E-FD4E-A80C-E91251E6D32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2022 5GIS Sponsor Summit / Nov 8, 2021 / © 2021 AT&amp;T - AT&amp;T Proprietary (Internal Use Only) - Shared under NDA </a:t>
            </a:r>
          </a:p>
        </p:txBody>
      </p:sp>
      <p:cxnSp>
        <p:nvCxnSpPr>
          <p:cNvPr id="10" name="Straight Connector">
            <a:extLst>
              <a:ext uri="{FF2B5EF4-FFF2-40B4-BE49-F238E27FC236}">
                <a16:creationId xmlns:a16="http://schemas.microsoft.com/office/drawing/2014/main" id="{ADAD2240-3AE4-B34C-947E-EEBCB854A7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47754" y="6389653"/>
            <a:ext cx="11491730" cy="0"/>
          </a:xfrm>
          <a:prstGeom prst="line">
            <a:avLst/>
          </a:prstGeom>
          <a:noFill/>
          <a:ln w="6350" cap="sq" cmpd="sng" algn="ctr">
            <a:solidFill>
              <a:srgbClr val="000000"/>
            </a:solidFill>
            <a:prstDash val="solid"/>
          </a:ln>
          <a:effectLst/>
        </p:spPr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1ABA2181-9333-41AB-A901-D0C31AD3D5F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40013" y="6404924"/>
            <a:ext cx="722839" cy="356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00853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+ content (4 column stack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83E8D14E-206A-3947-B30D-7D15E18DD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9270" y="283464"/>
            <a:ext cx="11510213" cy="86266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6DE0EB1B-D8BA-CE4B-A4F4-8B0F7363ABF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29270" y="1822037"/>
            <a:ext cx="5533561" cy="16312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BF22142-DBAA-3A4F-BA95-BE2DD864A8DF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306651" y="1822037"/>
            <a:ext cx="5533561" cy="16312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2C3D1597-8385-C34D-9200-EF459D29C83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29270" y="3621025"/>
            <a:ext cx="5533561" cy="16328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82BFD262-FDB9-0A42-93DD-19561916691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11004" y="3621025"/>
            <a:ext cx="5533561" cy="16328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278115E9-2E33-F542-A64E-289B972B09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E3109C-F841-A249-A33C-708B7DCDEF14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B6DEB42-41D1-4443-9F79-00E8E3A8134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2022 5GIS Sponsor Summit / Nov 8, 2021 / © 2021 AT&amp;T - AT&amp;T Proprietary (Internal Use Only) - Shared under NDA </a:t>
            </a:r>
          </a:p>
        </p:txBody>
      </p:sp>
      <p:cxnSp>
        <p:nvCxnSpPr>
          <p:cNvPr id="11" name="Straight Connector">
            <a:extLst>
              <a:ext uri="{FF2B5EF4-FFF2-40B4-BE49-F238E27FC236}">
                <a16:creationId xmlns:a16="http://schemas.microsoft.com/office/drawing/2014/main" id="{6510501E-5E7E-9B4C-B972-9D7AA5865D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47754" y="6389653"/>
            <a:ext cx="11491730" cy="0"/>
          </a:xfrm>
          <a:prstGeom prst="line">
            <a:avLst/>
          </a:prstGeom>
          <a:noFill/>
          <a:ln w="6350" cap="sq" cmpd="sng" algn="ctr">
            <a:solidFill>
              <a:srgbClr val="000000"/>
            </a:solidFill>
            <a:prstDash val="solid"/>
          </a:ln>
          <a:effectLst/>
        </p:spPr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B6C2DE48-A9C4-4463-B920-41E7B96985B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40013" y="6404924"/>
            <a:ext cx="722839" cy="356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6111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+ 4 column content with head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83E8D14E-206A-3947-B30D-7D15E18DD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9270" y="283464"/>
            <a:ext cx="11742472" cy="86266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6DE0EB1B-D8BA-CE4B-A4F4-8B0F7363ABF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29270" y="2605631"/>
            <a:ext cx="2707329" cy="822945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BF22142-DBAA-3A4F-BA95-BE2DD864A8DF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264163" y="2605631"/>
            <a:ext cx="2707329" cy="822697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73C7F918-8831-034A-8C00-253A50C274C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99056" y="2605630"/>
            <a:ext cx="2707329" cy="823370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D6008138-E871-7042-B79E-B1592A15A6E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9133949" y="2605630"/>
            <a:ext cx="2707329" cy="823370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A754FB65-0049-2A4D-84B3-0E1EDA03A3D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29270" y="4050793"/>
            <a:ext cx="2707329" cy="2110335"/>
          </a:xfrm>
        </p:spPr>
        <p:txBody>
          <a:bodyPr/>
          <a:lstStyle>
            <a:lvl1pPr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F6C07FEE-269E-1941-9A24-31C3DDCB814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261654" y="4050792"/>
            <a:ext cx="2707329" cy="2110294"/>
          </a:xfrm>
        </p:spPr>
        <p:txBody>
          <a:bodyPr/>
          <a:lstStyle>
            <a:lvl1pPr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A6253EE2-43B8-6C42-839E-C05FE49D703A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6194039" y="4050793"/>
            <a:ext cx="2707329" cy="2110336"/>
          </a:xfrm>
        </p:spPr>
        <p:txBody>
          <a:bodyPr/>
          <a:lstStyle>
            <a:lvl1pPr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8">
            <a:extLst>
              <a:ext uri="{FF2B5EF4-FFF2-40B4-BE49-F238E27FC236}">
                <a16:creationId xmlns:a16="http://schemas.microsoft.com/office/drawing/2014/main" id="{F908B1C9-21E2-1143-88A4-CF2A7BB33D27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9126423" y="4050792"/>
            <a:ext cx="2707329" cy="2110294"/>
          </a:xfrm>
        </p:spPr>
        <p:txBody>
          <a:bodyPr/>
          <a:lstStyle>
            <a:lvl1pPr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278115E9-2E33-F542-A64E-289B972B09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E3109C-F841-A249-A33C-708B7DCDEF14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DE318CDF-3D28-0D45-A58E-785DBF27C9FB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2022 5GIS Sponsor Summit / Nov 8, 2021 / © 2021 AT&amp;T - AT&amp;T Proprietary (Internal Use Only) - Shared under NDA </a:t>
            </a:r>
          </a:p>
        </p:txBody>
      </p:sp>
      <p:cxnSp>
        <p:nvCxnSpPr>
          <p:cNvPr id="16" name="Straight Connector">
            <a:extLst>
              <a:ext uri="{FF2B5EF4-FFF2-40B4-BE49-F238E27FC236}">
                <a16:creationId xmlns:a16="http://schemas.microsoft.com/office/drawing/2014/main" id="{E70A6D88-32A0-FE4A-BCFF-A28D2F09E7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47754" y="6389653"/>
            <a:ext cx="11491730" cy="0"/>
          </a:xfrm>
          <a:prstGeom prst="line">
            <a:avLst/>
          </a:prstGeom>
          <a:noFill/>
          <a:ln w="6350" cap="sq" cmpd="sng" algn="ctr">
            <a:solidFill>
              <a:srgbClr val="000000"/>
            </a:solidFill>
            <a:prstDash val="solid"/>
          </a:ln>
          <a:effectLst/>
        </p:spPr>
      </p:cxnSp>
      <p:pic>
        <p:nvPicPr>
          <p:cNvPr id="18" name="Picture 17">
            <a:extLst>
              <a:ext uri="{FF2B5EF4-FFF2-40B4-BE49-F238E27FC236}">
                <a16:creationId xmlns:a16="http://schemas.microsoft.com/office/drawing/2014/main" id="{9F4C8360-2ED5-4EB4-9C3B-A17C380688B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40013" y="6404924"/>
            <a:ext cx="722839" cy="356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1513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+ content (5 colum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83E8D14E-206A-3947-B30D-7D15E18DD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9270" y="283464"/>
            <a:ext cx="11742472" cy="86266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6DE0EB1B-D8BA-CE4B-A4F4-8B0F7363ABF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29270" y="1822036"/>
            <a:ext cx="1847569" cy="43368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BF22142-DBAA-3A4F-BA95-BE2DD864A8DF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743485" y="1822036"/>
            <a:ext cx="1847569" cy="43355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73C7F918-8831-034A-8C00-253A50C274C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57699" y="1822036"/>
            <a:ext cx="1847569" cy="43390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D6008138-E871-7042-B79E-B1592A15A6E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571914" y="1822036"/>
            <a:ext cx="1847569" cy="43390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FC1FA193-BA39-E74D-928F-507D2FA49A3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9986129" y="1822036"/>
            <a:ext cx="1848331" cy="43390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278115E9-2E33-F542-A64E-289B972B09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E3109C-F841-A249-A33C-708B7DCDEF14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F10F0D1-9064-8744-9F0E-274C6B55354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2022 5GIS Sponsor Summit / Nov 8, 2021 / © 2021 AT&amp;T - AT&amp;T Proprietary (Internal Use Only) - Shared under NDA </a:t>
            </a:r>
          </a:p>
        </p:txBody>
      </p:sp>
      <p:cxnSp>
        <p:nvCxnSpPr>
          <p:cNvPr id="11" name="Straight Connector">
            <a:extLst>
              <a:ext uri="{FF2B5EF4-FFF2-40B4-BE49-F238E27FC236}">
                <a16:creationId xmlns:a16="http://schemas.microsoft.com/office/drawing/2014/main" id="{E8DF81BC-3E43-4D48-B23A-C8E39A6F5A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47754" y="6389653"/>
            <a:ext cx="11491730" cy="0"/>
          </a:xfrm>
          <a:prstGeom prst="line">
            <a:avLst/>
          </a:prstGeom>
          <a:noFill/>
          <a:ln w="6350" cap="sq" cmpd="sng" algn="ctr">
            <a:solidFill>
              <a:srgbClr val="000000"/>
            </a:solidFill>
            <a:prstDash val="solid"/>
          </a:ln>
          <a:effectLst/>
        </p:spPr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388B6CF1-0A87-4E79-9B29-5A83807D354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40013" y="6404924"/>
            <a:ext cx="722839" cy="356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14661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rge text call-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83E8D14E-206A-3947-B30D-7D15E18DD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59" y="301752"/>
            <a:ext cx="11606759" cy="4663440"/>
          </a:xfrm>
        </p:spPr>
        <p:txBody>
          <a:bodyPr/>
          <a:lstStyle>
            <a:lvl1pPr>
              <a:lnSpc>
                <a:spcPct val="80000"/>
              </a:lnSpc>
              <a:defRPr sz="136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278115E9-2E33-F542-A64E-289B972B09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4E3109C-F841-A249-A33C-708B7DCDEF14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4E16E967-BB1A-9C42-A19B-66F944EED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2022 5GIS Sponsor Summit / Nov 8, 2021 / © 2021 AT&amp;T - AT&amp;T Proprietary (Internal Use Only) - Shared under NDA </a:t>
            </a:r>
          </a:p>
        </p:txBody>
      </p:sp>
      <p:cxnSp>
        <p:nvCxnSpPr>
          <p:cNvPr id="6" name="Straight Connector">
            <a:extLst>
              <a:ext uri="{FF2B5EF4-FFF2-40B4-BE49-F238E27FC236}">
                <a16:creationId xmlns:a16="http://schemas.microsoft.com/office/drawing/2014/main" id="{9D21E93F-FCBB-BF41-9B79-F82598BF2F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47754" y="6389653"/>
            <a:ext cx="11491730" cy="0"/>
          </a:xfrm>
          <a:prstGeom prst="line">
            <a:avLst/>
          </a:prstGeom>
          <a:ln w="6350" cap="sq"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9752BE81-F7C2-4A77-ABF0-46A74487E44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40013" y="6404924"/>
            <a:ext cx="722839" cy="356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56469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quo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3178712" y="271793"/>
            <a:ext cx="8660770" cy="4698670"/>
          </a:xfrm>
          <a:effectLst/>
        </p:spPr>
        <p:txBody>
          <a:bodyPr anchor="t" anchorCtr="0"/>
          <a:lstStyle>
            <a:lvl1pPr>
              <a:lnSpc>
                <a:spcPct val="90000"/>
              </a:lnSpc>
              <a:spcAft>
                <a:spcPts val="0"/>
              </a:spcAft>
              <a:defRPr sz="4800" b="0" i="0">
                <a:solidFill>
                  <a:schemeClr val="tx2"/>
                </a:solidFill>
                <a:latin typeface="ATT Aleck Sans Medium" panose="020B0503020203020204" pitchFamily="34" charset="0"/>
                <a:cs typeface="ATT Aleck Sans Medium" panose="020B0503020203020204" pitchFamily="34" charset="0"/>
              </a:defRPr>
            </a:lvl1pPr>
          </a:lstStyle>
          <a:p>
            <a:r>
              <a:rPr lang="en-US"/>
              <a:t>[Insert quote here]</a:t>
            </a:r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D8FDF867-EACE-7949-B1B5-8388E8918DA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2022 5GIS Sponsor Summit / Nov 8, 2021 / © 2021 AT&amp;T - AT&amp;T Proprietary (Internal Use Only) - Shared under NDA </a:t>
            </a:r>
          </a:p>
        </p:txBody>
      </p:sp>
      <p:sp>
        <p:nvSpPr>
          <p:cNvPr id="4" name="Slide Number Placeholder">
            <a:extLst>
              <a:ext uri="{FF2B5EF4-FFF2-40B4-BE49-F238E27FC236}">
                <a16:creationId xmlns:a16="http://schemas.microsoft.com/office/drawing/2014/main" id="{C76B9F2C-706D-4C4D-9E1A-F252EC67416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4E3109C-F841-A249-A33C-708B7DCDEF14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">
            <a:extLst>
              <a:ext uri="{FF2B5EF4-FFF2-40B4-BE49-F238E27FC236}">
                <a16:creationId xmlns:a16="http://schemas.microsoft.com/office/drawing/2014/main" id="{5BBCAD71-7FCF-4145-86F3-146DC4757B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47754" y="6389653"/>
            <a:ext cx="11491730" cy="0"/>
          </a:xfrm>
          <a:prstGeom prst="line">
            <a:avLst/>
          </a:prstGeom>
          <a:noFill/>
          <a:ln w="6350" cap="sq" cmpd="sng" algn="ctr">
            <a:solidFill>
              <a:srgbClr val="000000"/>
            </a:solidFill>
            <a:prstDash val="solid"/>
          </a:ln>
          <a:effectLst/>
        </p:spPr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02815F9C-023C-4113-A56A-12AC4DFF7EE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40013" y="6404924"/>
            <a:ext cx="722839" cy="356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50872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edium quo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6068284" y="271793"/>
            <a:ext cx="5771199" cy="4698670"/>
          </a:xfrm>
          <a:effectLst/>
        </p:spPr>
        <p:txBody>
          <a:bodyPr anchor="t" anchorCtr="0"/>
          <a:lstStyle>
            <a:lvl1pPr>
              <a:lnSpc>
                <a:spcPct val="90000"/>
              </a:lnSpc>
              <a:spcAft>
                <a:spcPts val="0"/>
              </a:spcAft>
              <a:defRPr sz="4800" b="0" i="0">
                <a:solidFill>
                  <a:schemeClr val="tx2"/>
                </a:solidFill>
                <a:latin typeface="ATT Aleck Sans Medium" panose="020B0503020203020204" pitchFamily="34" charset="0"/>
                <a:cs typeface="ATT Aleck Sans Medium" panose="020B0503020203020204" pitchFamily="34" charset="0"/>
              </a:defRPr>
            </a:lvl1pPr>
          </a:lstStyle>
          <a:p>
            <a:r>
              <a:rPr lang="en-US"/>
              <a:t>[Insert quote here]</a:t>
            </a:r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D8FDF867-EACE-7949-B1B5-8388E8918DA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2022 5GIS Sponsor Summit / Nov 8, 2021 / © 2021 AT&amp;T - AT&amp;T Proprietary (Internal Use Only) - Shared under NDA </a:t>
            </a:r>
          </a:p>
        </p:txBody>
      </p:sp>
      <p:sp>
        <p:nvSpPr>
          <p:cNvPr id="4" name="Slide Number Placeholder">
            <a:extLst>
              <a:ext uri="{FF2B5EF4-FFF2-40B4-BE49-F238E27FC236}">
                <a16:creationId xmlns:a16="http://schemas.microsoft.com/office/drawing/2014/main" id="{C76B9F2C-706D-4C4D-9E1A-F252EC67416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4E3109C-F841-A249-A33C-708B7DCDEF14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">
            <a:extLst>
              <a:ext uri="{FF2B5EF4-FFF2-40B4-BE49-F238E27FC236}">
                <a16:creationId xmlns:a16="http://schemas.microsoft.com/office/drawing/2014/main" id="{5BBCAD71-7FCF-4145-86F3-146DC4757B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47754" y="6389653"/>
            <a:ext cx="11491730" cy="0"/>
          </a:xfrm>
          <a:prstGeom prst="line">
            <a:avLst/>
          </a:prstGeom>
          <a:noFill/>
          <a:ln w="6350" cap="sq" cmpd="sng" algn="ctr">
            <a:solidFill>
              <a:srgbClr val="000000"/>
            </a:solidFill>
            <a:prstDash val="solid"/>
          </a:ln>
          <a:effectLst/>
        </p:spPr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1EA09E01-CCC3-4E3D-A6E4-E1A8AACFF01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40013" y="6404924"/>
            <a:ext cx="722839" cy="356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09913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83E8D14E-206A-3947-B30D-7D15E18DD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9270" y="283464"/>
            <a:ext cx="2665535" cy="134579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">
            <a:extLst>
              <a:ext uri="{FF2B5EF4-FFF2-40B4-BE49-F238E27FC236}">
                <a16:creationId xmlns:a16="http://schemas.microsoft.com/office/drawing/2014/main" id="{6DE0EB1B-D8BA-CE4B-A4F4-8B0F7363ABF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29269" y="1831180"/>
            <a:ext cx="2665535" cy="43299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able Placeholder">
            <a:extLst>
              <a:ext uri="{FF2B5EF4-FFF2-40B4-BE49-F238E27FC236}">
                <a16:creationId xmlns:a16="http://schemas.microsoft.com/office/drawing/2014/main" id="{6CD9315E-F477-2446-82CB-6BF7F161B77B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3452124" y="338140"/>
            <a:ext cx="8387359" cy="5822949"/>
          </a:xfrm>
          <a:pattFill prst="ltUpDiag">
            <a:fgClr>
              <a:srgbClr val="E8E8E8"/>
            </a:fgClr>
            <a:bgClr>
              <a:schemeClr val="bg1"/>
            </a:bgClr>
          </a:pattFill>
        </p:spPr>
        <p:txBody>
          <a:bodyPr/>
          <a:lstStyle/>
          <a:p>
            <a:r>
              <a:rPr lang="en-US"/>
              <a:t>Click icon to add table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278115E9-2E33-F542-A64E-289B972B09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E3109C-F841-A249-A33C-708B7DCDEF14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CF254AFD-878E-234F-AA25-686444015FF7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2022 5GIS Sponsor Summit / Nov 8, 2021 / © 2021 AT&amp;T - AT&amp;T Proprietary (Internal Use Only) - Shared under NDA </a:t>
            </a:r>
          </a:p>
        </p:txBody>
      </p:sp>
      <p:cxnSp>
        <p:nvCxnSpPr>
          <p:cNvPr id="8" name="Straight Connector">
            <a:extLst>
              <a:ext uri="{FF2B5EF4-FFF2-40B4-BE49-F238E27FC236}">
                <a16:creationId xmlns:a16="http://schemas.microsoft.com/office/drawing/2014/main" id="{08F8CA46-8130-744D-B5AC-D0DFF7637E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47754" y="6389653"/>
            <a:ext cx="11491730" cy="0"/>
          </a:xfrm>
          <a:prstGeom prst="line">
            <a:avLst/>
          </a:prstGeom>
          <a:noFill/>
          <a:ln w="6350" cap="sq" cmpd="sng" algn="ctr">
            <a:solidFill>
              <a:srgbClr val="000000"/>
            </a:solidFill>
            <a:prstDash val="solid"/>
          </a:ln>
          <a:effectLst/>
        </p:spPr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247E99BC-659A-46D2-9AA4-C92179D0611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40013" y="6404924"/>
            <a:ext cx="722839" cy="356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41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83E8D14E-206A-3947-B30D-7D15E18DD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9270" y="283464"/>
            <a:ext cx="2665535" cy="13442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">
            <a:extLst>
              <a:ext uri="{FF2B5EF4-FFF2-40B4-BE49-F238E27FC236}">
                <a16:creationId xmlns:a16="http://schemas.microsoft.com/office/drawing/2014/main" id="{6DE0EB1B-D8BA-CE4B-A4F4-8B0F7363ABF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29270" y="1831180"/>
            <a:ext cx="2665535" cy="43299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hart Placeholder">
            <a:extLst>
              <a:ext uri="{FF2B5EF4-FFF2-40B4-BE49-F238E27FC236}">
                <a16:creationId xmlns:a16="http://schemas.microsoft.com/office/drawing/2014/main" id="{1C7BD4DB-E9C7-7E4B-B7E0-B3D954B1366B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3452125" y="338140"/>
            <a:ext cx="8387359" cy="5822948"/>
          </a:xfrm>
          <a:pattFill prst="ltUpDiag">
            <a:fgClr>
              <a:srgbClr val="E8E8E8"/>
            </a:fgClr>
            <a:bgClr>
              <a:schemeClr val="bg1"/>
            </a:bgClr>
          </a:pattFill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278115E9-2E33-F542-A64E-289B972B09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E3109C-F841-A249-A33C-708B7DCDEF14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8F1B83A1-CAFB-664B-9F60-50F0B41D1274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2022 5GIS Sponsor Summit / Nov 8, 2021 / © 2021 AT&amp;T - AT&amp;T Proprietary (Internal Use Only) - Shared under NDA </a:t>
            </a:r>
          </a:p>
        </p:txBody>
      </p:sp>
      <p:cxnSp>
        <p:nvCxnSpPr>
          <p:cNvPr id="9" name="Straight Connector">
            <a:extLst>
              <a:ext uri="{FF2B5EF4-FFF2-40B4-BE49-F238E27FC236}">
                <a16:creationId xmlns:a16="http://schemas.microsoft.com/office/drawing/2014/main" id="{5A21ED91-B37B-4244-8417-091A7E8343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47754" y="6389653"/>
            <a:ext cx="11491730" cy="0"/>
          </a:xfrm>
          <a:prstGeom prst="line">
            <a:avLst/>
          </a:prstGeom>
          <a:noFill/>
          <a:ln w="6350" cap="sq" cmpd="sng" algn="ctr">
            <a:solidFill>
              <a:srgbClr val="000000"/>
            </a:solidFill>
            <a:prstDash val="solid"/>
          </a:ln>
          <a:effectLst/>
        </p:spPr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D3E564DF-0039-4226-BA3B-747DCE98B95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40013" y="6404924"/>
            <a:ext cx="722839" cy="356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31387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Headline on photo (full bleed)">
    <p:bg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">
            <a:extLst>
              <a:ext uri="{FF2B5EF4-FFF2-40B4-BE49-F238E27FC236}">
                <a16:creationId xmlns:a16="http://schemas.microsoft.com/office/drawing/2014/main" id="{035B9A5E-75A7-C940-9B39-A66F6C0AAD5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12192000" cy="6858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Placeholder"/>
          <p:cNvSpPr>
            <a:spLocks noGrp="1"/>
          </p:cNvSpPr>
          <p:nvPr>
            <p:ph type="title" hasCustomPrompt="1"/>
          </p:nvPr>
        </p:nvSpPr>
        <p:spPr>
          <a:xfrm>
            <a:off x="292684" y="265176"/>
            <a:ext cx="9885841" cy="3163824"/>
          </a:xfrm>
          <a:effectLst/>
        </p:spPr>
        <p:txBody>
          <a:bodyPr anchor="t" anchorCtr="0"/>
          <a:lstStyle>
            <a:lvl1pPr>
              <a:lnSpc>
                <a:spcPct val="90000"/>
              </a:lnSpc>
              <a:spcAft>
                <a:spcPts val="0"/>
              </a:spcAft>
              <a:defRPr sz="6000" b="0" i="0">
                <a:solidFill>
                  <a:schemeClr val="tx1"/>
                </a:solidFill>
                <a:latin typeface="ATT Aleck Sans Medium" panose="020B0503020203020204" pitchFamily="34" charset="0"/>
                <a:cs typeface="ATT Aleck Sans Medium" panose="020B0503020203020204" pitchFamily="34" charset="0"/>
              </a:defRPr>
            </a:lvl1pPr>
          </a:lstStyle>
          <a:p>
            <a:r>
              <a:rPr lang="en-US"/>
              <a:t>[Insert headline here]</a:t>
            </a:r>
          </a:p>
        </p:txBody>
      </p:sp>
      <p:sp>
        <p:nvSpPr>
          <p:cNvPr id="4" name="Slide Number Placeholder">
            <a:extLst>
              <a:ext uri="{FF2B5EF4-FFF2-40B4-BE49-F238E27FC236}">
                <a16:creationId xmlns:a16="http://schemas.microsoft.com/office/drawing/2014/main" id="{BE940FB6-9BA4-4B4A-BF43-FD019C596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3109C-F841-A249-A33C-708B7DCDEF14}" type="slidenum">
              <a:rPr lang="en-US" smtClean="0"/>
              <a:t>‹#›</a:t>
            </a:fld>
            <a:endParaRPr lang="en-US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665D60C4-C29A-7742-A5B2-EFC005059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2022 5GIS Sponsor Summit / Nov 8, 2021 / © 2021 AT&amp;T - AT&amp;T Proprietary (Internal Use Only) - Shared under NDA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5EF1C7F-9480-4F76-9094-C78C70DB00D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05029" y="6411739"/>
            <a:ext cx="744218" cy="366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634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+ 1/2 image on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>
            <a:extLst>
              <a:ext uri="{FF2B5EF4-FFF2-40B4-BE49-F238E27FC236}">
                <a16:creationId xmlns:a16="http://schemas.microsoft.com/office/drawing/2014/main" id="{83E8D14E-206A-3947-B30D-7D15E18DD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685" y="265176"/>
            <a:ext cx="5574657" cy="5895912"/>
          </a:xfrm>
        </p:spPr>
        <p:txBody>
          <a:bodyPr/>
          <a:lstStyle>
            <a:lvl1pPr>
              <a:lnSpc>
                <a:spcPct val="90000"/>
              </a:lnSpc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Picture Placeholder">
            <a:extLst>
              <a:ext uri="{FF2B5EF4-FFF2-40B4-BE49-F238E27FC236}">
                <a16:creationId xmlns:a16="http://schemas.microsoft.com/office/drawing/2014/main" id="{BBEEA372-8B0E-CB42-B7A8-955EE4FE32E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91237" y="0"/>
            <a:ext cx="6100764" cy="6858000"/>
          </a:xfrm>
          <a:solidFill>
            <a:srgbClr val="E8E8E8"/>
          </a:solidFill>
          <a:ln>
            <a:noFill/>
          </a:ln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278115E9-2E33-F542-A64E-289B972B09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E3109C-F841-A249-A33C-708B7DCDEF14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770EDB3F-BA1C-8549-8E96-DFBA213B2AD5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894729" y="6492240"/>
            <a:ext cx="5323108" cy="192024"/>
          </a:xfrm>
        </p:spPr>
        <p:txBody>
          <a:bodyPr/>
          <a:lstStyle/>
          <a:p>
            <a:r>
              <a:rPr lang="en-US"/>
              <a:t>2022 5GIS Sponsor Summit / Nov 8, 2021 / © 2021 AT&amp;T - AT&amp;T Proprietary (Internal Use Only) - Shared under NDA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2BCEDB3-818B-408E-978F-D9C589DF0C5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05029" y="6411739"/>
            <a:ext cx="744218" cy="366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11377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ext + 1/2 image on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>
            <a:extLst>
              <a:ext uri="{FF2B5EF4-FFF2-40B4-BE49-F238E27FC236}">
                <a16:creationId xmlns:a16="http://schemas.microsoft.com/office/drawing/2014/main" id="{83E8D14E-206A-3947-B30D-7D15E18DD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9270" y="283464"/>
            <a:ext cx="5538071" cy="86266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Picture Placeholder">
            <a:extLst>
              <a:ext uri="{FF2B5EF4-FFF2-40B4-BE49-F238E27FC236}">
                <a16:creationId xmlns:a16="http://schemas.microsoft.com/office/drawing/2014/main" id="{BBEEA372-8B0E-CB42-B7A8-955EE4FE32E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91237" y="0"/>
            <a:ext cx="6100764" cy="6858000"/>
          </a:xfrm>
          <a:solidFill>
            <a:srgbClr val="E8E8E8"/>
          </a:solidFill>
          <a:ln>
            <a:noFill/>
          </a:ln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278115E9-2E33-F542-A64E-289B972B09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E3109C-F841-A249-A33C-708B7DCDEF14}" type="slidenum">
              <a:rPr lang="en-US" smtClean="0"/>
              <a:t>‹#›</a:t>
            </a:fld>
            <a:endParaRPr lang="en-US"/>
          </a:p>
        </p:txBody>
      </p:sp>
      <p:sp>
        <p:nvSpPr>
          <p:cNvPr id="5" name="Content Placeholder">
            <a:extLst>
              <a:ext uri="{FF2B5EF4-FFF2-40B4-BE49-F238E27FC236}">
                <a16:creationId xmlns:a16="http://schemas.microsoft.com/office/drawing/2014/main" id="{6DE0EB1B-D8BA-CE4B-A4F4-8B0F7363ABF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29270" y="1822036"/>
            <a:ext cx="5538071" cy="43390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770EDB3F-BA1C-8549-8E96-DFBA213B2AD5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894729" y="6492240"/>
            <a:ext cx="5323108" cy="192024"/>
          </a:xfrm>
        </p:spPr>
        <p:txBody>
          <a:bodyPr/>
          <a:lstStyle/>
          <a:p>
            <a:r>
              <a:rPr lang="en-US"/>
              <a:t>2022 5GIS Sponsor Summit / Nov 8, 2021 / © 2021 AT&amp;T - AT&amp;T Proprietary (Internal Use Only) - Shared under NDA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A0E2126-E2C2-4A24-96BE-37FBCF34D8C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05029" y="6411739"/>
            <a:ext cx="744218" cy="366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587785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+ 1/2 image on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">
            <a:extLst>
              <a:ext uri="{FF2B5EF4-FFF2-40B4-BE49-F238E27FC236}">
                <a16:creationId xmlns:a16="http://schemas.microsoft.com/office/drawing/2014/main" id="{BBEEA372-8B0E-CB42-B7A8-955EE4FE32E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6100764" cy="6858000"/>
          </a:xfrm>
          <a:solidFill>
            <a:srgbClr val="E8E8E8"/>
          </a:solidFill>
          <a:ln>
            <a:noFill/>
          </a:ln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83E8D14E-206A-3947-B30D-7D15E18DD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1639" y="266104"/>
            <a:ext cx="5567845" cy="5894984"/>
          </a:xfrm>
        </p:spPr>
        <p:txBody>
          <a:bodyPr/>
          <a:lstStyle>
            <a:lvl1pPr>
              <a:lnSpc>
                <a:spcPct val="90000"/>
              </a:lnSpc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278115E9-2E33-F542-A64E-289B972B09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4E3109C-F841-A249-A33C-708B7DCDEF14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770EDB3F-BA1C-8549-8E96-DFBA213B2AD5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894729" y="6492240"/>
            <a:ext cx="5323108" cy="19202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2022 5GIS Sponsor Summit / Nov 8, 2021 / © 2021 AT&amp;T - AT&amp;T Proprietary (Internal Use Only) - Shared under NDA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FD7FB67-AE6E-4A7C-AC36-9280CE55BF0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40013" y="6404924"/>
            <a:ext cx="722839" cy="356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53550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ext + 1/2 image on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">
            <a:extLst>
              <a:ext uri="{FF2B5EF4-FFF2-40B4-BE49-F238E27FC236}">
                <a16:creationId xmlns:a16="http://schemas.microsoft.com/office/drawing/2014/main" id="{BBEEA372-8B0E-CB42-B7A8-955EE4FE32E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6100764" cy="6858000"/>
          </a:xfrm>
          <a:solidFill>
            <a:srgbClr val="E8E8E8"/>
          </a:solidFill>
          <a:ln>
            <a:noFill/>
          </a:ln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83E8D14E-206A-3947-B30D-7D15E18DD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150" y="283464"/>
            <a:ext cx="5538071" cy="86266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">
            <a:extLst>
              <a:ext uri="{FF2B5EF4-FFF2-40B4-BE49-F238E27FC236}">
                <a16:creationId xmlns:a16="http://schemas.microsoft.com/office/drawing/2014/main" id="{6DE0EB1B-D8BA-CE4B-A4F4-8B0F7363ABF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298150" y="1822036"/>
            <a:ext cx="5538071" cy="43390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278115E9-2E33-F542-A64E-289B972B09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4E3109C-F841-A249-A33C-708B7DCDEF14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770EDB3F-BA1C-8549-8E96-DFBA213B2AD5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894731" y="6492240"/>
            <a:ext cx="5323108" cy="19202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2022 5GIS Sponsor Summit / Nov 8, 2021 / © 2021 AT&amp;T - AT&amp;T Proprietary (Internal Use Only) - Shared under NDA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260C527-ADB5-4D70-9923-5D27619E155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40013" y="6404924"/>
            <a:ext cx="722839" cy="356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850712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+ text (on AT&amp;T blue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>
            <a:extLst>
              <a:ext uri="{FF2B5EF4-FFF2-40B4-BE49-F238E27FC236}">
                <a16:creationId xmlns:a16="http://schemas.microsoft.com/office/drawing/2014/main" id="{83E8D14E-206A-3947-B30D-7D15E18DD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9270" y="283464"/>
            <a:ext cx="11742472" cy="86266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">
            <a:extLst>
              <a:ext uri="{FF2B5EF4-FFF2-40B4-BE49-F238E27FC236}">
                <a16:creationId xmlns:a16="http://schemas.microsoft.com/office/drawing/2014/main" id="{6DE0EB1B-D8BA-CE4B-A4F4-8B0F7363ABF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29270" y="1822036"/>
            <a:ext cx="2665535" cy="433904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278115E9-2E33-F542-A64E-289B972B09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4E3109C-F841-A249-A33C-708B7DCDEF14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4F98A8BB-6209-574B-B436-4BC74C0794E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2022 5GIS Sponsor Summit / Nov 8, 2021 / © 2021 AT&amp;T - AT&amp;T Proprietary (Internal Use Only) - Shared under NDA </a:t>
            </a:r>
          </a:p>
        </p:txBody>
      </p:sp>
      <p:cxnSp>
        <p:nvCxnSpPr>
          <p:cNvPr id="7" name="Straight Connector">
            <a:extLst>
              <a:ext uri="{FF2B5EF4-FFF2-40B4-BE49-F238E27FC236}">
                <a16:creationId xmlns:a16="http://schemas.microsoft.com/office/drawing/2014/main" id="{CC653A88-1579-A54E-95FF-23E7360792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47754" y="6389653"/>
            <a:ext cx="11491730" cy="0"/>
          </a:xfrm>
          <a:prstGeom prst="line">
            <a:avLst/>
          </a:prstGeom>
          <a:ln w="6350" cap="sq"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873AFA4B-8F87-4894-A620-E4C0D0731BB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05029" y="6411739"/>
            <a:ext cx="744218" cy="366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67388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328987" y="280928"/>
            <a:ext cx="11510496" cy="652852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4E3109C-F841-A249-A33C-708B7DCDEF14}" type="slidenum">
              <a:rPr lang="en-US" smtClean="0"/>
              <a:t>‹#›</a:t>
            </a:fld>
            <a:endParaRPr lang="en-US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285ECC81-F806-1342-B46E-27DAB802BEC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2022 5GIS Sponsor Summit / Nov 8, 2021 / © 2021 AT&amp;T - AT&amp;T Proprietary (Internal Use Only) - Shared under NDA </a:t>
            </a:r>
          </a:p>
        </p:txBody>
      </p:sp>
      <p:cxnSp>
        <p:nvCxnSpPr>
          <p:cNvPr id="6" name="Straight Connector">
            <a:extLst>
              <a:ext uri="{FF2B5EF4-FFF2-40B4-BE49-F238E27FC236}">
                <a16:creationId xmlns:a16="http://schemas.microsoft.com/office/drawing/2014/main" id="{D367BE66-D6F2-1046-B922-95193B856F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47754" y="6389653"/>
            <a:ext cx="11491730" cy="0"/>
          </a:xfrm>
          <a:prstGeom prst="line">
            <a:avLst/>
          </a:prstGeom>
          <a:noFill/>
          <a:ln w="6350" cap="sq" cmpd="sng" algn="ctr">
            <a:solidFill>
              <a:srgbClr val="000000"/>
            </a:solidFill>
            <a:prstDash val="solid"/>
          </a:ln>
          <a:effectLst/>
        </p:spPr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2FC5DA52-EA53-417E-A4F6-7CBD2ADEBB9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40013" y="6404924"/>
            <a:ext cx="722839" cy="356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215292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4E3109C-F841-A249-A33C-708B7DCDEF14}" type="slidenum">
              <a:rPr lang="en-US" smtClean="0"/>
              <a:t>‹#›</a:t>
            </a:fld>
            <a:endParaRPr lang="en-US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3CE87F42-0DBA-1F4D-BB94-6D9B444C73E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2022 5GIS Sponsor Summit / Nov 8, 2021 / © 2021 AT&amp;T - AT&amp;T Proprietary (Internal Use Only) - Shared under NDA </a:t>
            </a:r>
          </a:p>
        </p:txBody>
      </p:sp>
      <p:cxnSp>
        <p:nvCxnSpPr>
          <p:cNvPr id="5" name="Straight Connector">
            <a:extLst>
              <a:ext uri="{FF2B5EF4-FFF2-40B4-BE49-F238E27FC236}">
                <a16:creationId xmlns:a16="http://schemas.microsoft.com/office/drawing/2014/main" id="{A8B53130-DD9A-C949-850D-7D7CC44F6D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47754" y="6389653"/>
            <a:ext cx="11491730" cy="0"/>
          </a:xfrm>
          <a:prstGeom prst="line">
            <a:avLst/>
          </a:prstGeom>
          <a:noFill/>
          <a:ln w="6350" cap="sq" cmpd="sng" algn="ctr">
            <a:solidFill>
              <a:srgbClr val="000000"/>
            </a:solidFill>
            <a:prstDash val="solid"/>
          </a:ln>
          <a:effectLst/>
        </p:spPr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7520840C-D89F-41CD-AB90-EEB1F5426CD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40013" y="6404924"/>
            <a:ext cx="722839" cy="356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836951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Globe (on AT&amp;T blue)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C3C57B4-DF4F-498D-BACA-FA958A68959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09410" y="2075686"/>
            <a:ext cx="5605824" cy="2761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85580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Globe (on white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45E5479-2146-4B7E-B6DF-D980BB0D90E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84262" y="2120127"/>
            <a:ext cx="5314018" cy="2617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32958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/>
          <p:cNvSpPr>
            <a:spLocks noGrp="1"/>
          </p:cNvSpPr>
          <p:nvPr>
            <p:ph type="title"/>
          </p:nvPr>
        </p:nvSpPr>
        <p:spPr>
          <a:xfrm>
            <a:off x="330592" y="281967"/>
            <a:ext cx="11508891" cy="86266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[Slide title]               </a:t>
            </a:r>
          </a:p>
        </p:txBody>
      </p:sp>
      <p:sp>
        <p:nvSpPr>
          <p:cNvPr id="3" name="Text Placeholder"/>
          <p:cNvSpPr>
            <a:spLocks noGrp="1"/>
          </p:cNvSpPr>
          <p:nvPr>
            <p:ph type="body" idx="1"/>
          </p:nvPr>
        </p:nvSpPr>
        <p:spPr>
          <a:xfrm>
            <a:off x="324518" y="1826247"/>
            <a:ext cx="11514966" cy="4334841"/>
          </a:xfrm>
          <a:prstGeom prst="rect">
            <a:avLst/>
          </a:prstGeom>
        </p:spPr>
        <p:txBody>
          <a:bodyPr vert="horz" lIns="0" tIns="0" rIns="0" bIns="0" spcCol="493776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"/>
          <p:cNvSpPr>
            <a:spLocks noGrp="1"/>
          </p:cNvSpPr>
          <p:nvPr>
            <p:ph type="sldNum" sz="quarter" idx="4"/>
          </p:nvPr>
        </p:nvSpPr>
        <p:spPr>
          <a:xfrm>
            <a:off x="340565" y="6492240"/>
            <a:ext cx="722839" cy="19202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lnSpc>
                <a:spcPts val="1000"/>
              </a:lnSpc>
              <a:defRPr sz="800" b="0">
                <a:solidFill>
                  <a:schemeClr val="tx1"/>
                </a:solidFill>
                <a:latin typeface="+mn-lt"/>
                <a:cs typeface="ATT Aleck Sans" panose="020B0503020203020204" pitchFamily="34" charset="0"/>
              </a:defRPr>
            </a:lvl1pPr>
          </a:lstStyle>
          <a:p>
            <a:fld id="{E4E3109C-F841-A249-A33C-708B7DCDEF14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ooter Placeholder">
            <a:extLst>
              <a:ext uri="{FF2B5EF4-FFF2-40B4-BE49-F238E27FC236}">
                <a16:creationId xmlns:a16="http://schemas.microsoft.com/office/drawing/2014/main" id="{EA75AFFA-2073-4D48-A217-E9467D3F99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3405" y="6492240"/>
            <a:ext cx="5323108" cy="19202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2022 5GIS Sponsor Summit / Nov 8, 2021 / © 2021 AT&amp;T - AT&amp;T Proprietary (Internal Use Only) - Shared under NDA </a:t>
            </a:r>
          </a:p>
        </p:txBody>
      </p:sp>
    </p:spTree>
    <p:extLst>
      <p:ext uri="{BB962C8B-B14F-4D97-AF65-F5344CB8AC3E}">
        <p14:creationId xmlns:p14="http://schemas.microsoft.com/office/powerpoint/2010/main" val="18073296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  <p:sldLayoutId id="2147483701" r:id="rId15"/>
    <p:sldLayoutId id="2147483702" r:id="rId16"/>
    <p:sldLayoutId id="2147483703" r:id="rId17"/>
    <p:sldLayoutId id="2147483704" r:id="rId18"/>
    <p:sldLayoutId id="2147483705" r:id="rId19"/>
    <p:sldLayoutId id="2147483706" r:id="rId20"/>
    <p:sldLayoutId id="2147483707" r:id="rId21"/>
    <p:sldLayoutId id="2147483708" r:id="rId22"/>
    <p:sldLayoutId id="2147483709" r:id="rId23"/>
    <p:sldLayoutId id="2147483710" r:id="rId24"/>
    <p:sldLayoutId id="2147483711" r:id="rId25"/>
  </p:sldLayoutIdLst>
  <p:hf hd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spcAft>
          <a:spcPts val="0"/>
        </a:spcAft>
        <a:buNone/>
        <a:defRPr sz="2400" b="0" i="0" kern="1200">
          <a:solidFill>
            <a:schemeClr val="tx1"/>
          </a:solidFill>
          <a:latin typeface="ATT Aleck Sans Medium" panose="020B0503020203020204" pitchFamily="34" charset="0"/>
          <a:ea typeface="+mj-ea"/>
          <a:cs typeface="ATT Aleck Sans Medium" panose="020B0503020203020204" pitchFamily="34" charset="0"/>
        </a:defRPr>
      </a:lvl1pPr>
    </p:titleStyle>
    <p:bodyStyle>
      <a:lvl1pPr marL="0" indent="0" algn="l" defTabSz="4572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>
          <a:schemeClr val="tx1"/>
        </a:buClr>
        <a:buFontTx/>
        <a:buNone/>
        <a:defRPr sz="2400" kern="1200">
          <a:solidFill>
            <a:schemeClr val="tx2"/>
          </a:solidFill>
          <a:latin typeface="+mn-lt"/>
          <a:ea typeface="+mn-ea"/>
          <a:cs typeface="ATT Aleck Sans" panose="020B0503020203020204" pitchFamily="34" charset="0"/>
        </a:defRPr>
      </a:lvl1pPr>
      <a:lvl2pPr marL="285750" indent="-285750" algn="l" defTabSz="4572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1000"/>
        <a:buFont typeface="ATT Aleck Sans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ATT Aleck Sans" panose="020B0503020203020204" pitchFamily="34" charset="0"/>
        </a:defRPr>
      </a:lvl2pPr>
      <a:lvl3pPr marL="457200" indent="-228600" algn="l" defTabSz="4572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Font typeface="ATT Aleck Sans" panose="020F0502020204030204" pitchFamily="34" charset="0"/>
        <a:buChar char="‒"/>
        <a:defRPr sz="1400" kern="1200" baseline="0">
          <a:solidFill>
            <a:schemeClr val="tx1"/>
          </a:solidFill>
          <a:latin typeface="+mn-lt"/>
          <a:ea typeface="+mn-ea"/>
          <a:cs typeface="ATT Aleck Sans" panose="020B0503020203020204" pitchFamily="34" charset="0"/>
        </a:defRPr>
      </a:lvl3pPr>
      <a:lvl4pPr marL="742950" indent="-285750" algn="l" defTabSz="4572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75000"/>
        <a:buFont typeface="ATT Aleck San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ATT Aleck Sans" panose="020B0503020203020204" pitchFamily="34" charset="0"/>
        </a:defRPr>
      </a:lvl4pPr>
      <a:lvl5pPr marL="914400" indent="-228600" algn="l" defTabSz="4572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60000"/>
        <a:buFont typeface="ATT Aleck Sans" panose="02070309020205020404" pitchFamily="49" charset="0"/>
        <a:buChar char="o"/>
        <a:defRPr sz="1400" kern="1200">
          <a:solidFill>
            <a:schemeClr val="tx1"/>
          </a:solidFill>
          <a:latin typeface="+mn-lt"/>
          <a:ea typeface="+mn-ea"/>
          <a:cs typeface="ATT Aleck Sans" panose="020B0503020203020204" pitchFamily="34" charset="0"/>
        </a:defRPr>
      </a:lvl5pPr>
      <a:lvl6pPr marL="1143000" indent="-228600" algn="l" defTabSz="4572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Font typeface="ATT Aleck Sans" panose="020F0502020204030204" pitchFamily="34" charset="0"/>
        <a:buChar char="◦"/>
        <a:defRPr sz="1400" kern="1200" baseline="0">
          <a:solidFill>
            <a:schemeClr val="tx1"/>
          </a:solidFill>
          <a:latin typeface="+mn-lt"/>
          <a:ea typeface="+mn-ea"/>
          <a:cs typeface="ATT Aleck Sans" panose="020B0503020203020204" pitchFamily="34" charset="0"/>
        </a:defRPr>
      </a:lvl6pPr>
      <a:lvl7pPr marL="1371600" indent="-228600" algn="l" defTabSz="4572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Font typeface="ATT Aleck Sans" panose="020F0502020204030204" pitchFamily="34" charset="0"/>
        <a:buChar char="›"/>
        <a:defRPr sz="1400" kern="1200">
          <a:solidFill>
            <a:schemeClr val="tx1"/>
          </a:solidFill>
          <a:latin typeface="+mn-lt"/>
          <a:ea typeface="+mn-ea"/>
          <a:cs typeface="ATT Aleck Sans" panose="020B0503020203020204" pitchFamily="34" charset="0"/>
        </a:defRPr>
      </a:lvl7pPr>
      <a:lvl8pPr marL="1600200" indent="-228600" algn="l" defTabSz="4572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Font typeface="ATT Aleck Sans" panose="020F0502020204030204" pitchFamily="34" charset="0"/>
        <a:buChar char="▫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indent="-228600" algn="l" defTabSz="4572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Font typeface="ATT Aleck Sans" panose="020F0502020204030204" pitchFamily="34" charset="0"/>
        <a:buChar char="†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pos="7456">
          <p15:clr>
            <a:srgbClr val="F26B43"/>
          </p15:clr>
        </p15:guide>
        <p15:guide id="6" pos="219">
          <p15:clr>
            <a:srgbClr val="F26B43"/>
          </p15:clr>
        </p15:guide>
        <p15:guide id="13" pos="3983">
          <p15:clr>
            <a:srgbClr val="5ACBF0"/>
          </p15:clr>
        </p15:guide>
        <p15:guide id="14" pos="3695">
          <p15:clr>
            <a:srgbClr val="5ACBF0"/>
          </p15:clr>
        </p15:guide>
        <p15:guide id="17" orient="horz" pos="216">
          <p15:clr>
            <a:srgbClr val="F26B43"/>
          </p15:clr>
        </p15:guide>
        <p15:guide id="18" orient="horz" pos="4122">
          <p15:clr>
            <a:srgbClr val="F26B43"/>
          </p15:clr>
        </p15:guide>
        <p15:guide id="21" orient="horz" pos="1186">
          <p15:clr>
            <a:srgbClr val="F26B43"/>
          </p15:clr>
        </p15:guide>
        <p15:guide id="28" orient="horz" pos="3131">
          <p15:clr>
            <a:srgbClr val="F26B43"/>
          </p15:clr>
        </p15:guide>
        <p15:guide id="36" pos="3839">
          <p15:clr>
            <a:srgbClr val="F26B43"/>
          </p15:clr>
        </p15:guide>
        <p15:guide id="37" pos="2932">
          <p15:clr>
            <a:srgbClr val="F26B43"/>
          </p15:clr>
        </p15:guide>
        <p15:guide id="39" pos="2028">
          <p15:clr>
            <a:srgbClr val="F26B43"/>
          </p15:clr>
        </p15:guide>
        <p15:guide id="40" pos="1124">
          <p15:clr>
            <a:srgbClr val="F26B43"/>
          </p15:clr>
        </p15:guide>
        <p15:guide id="41" pos="5646">
          <p15:clr>
            <a:srgbClr val="F26B43"/>
          </p15:clr>
        </p15:guide>
        <p15:guide id="42" pos="6551">
          <p15:clr>
            <a:srgbClr val="F26B43"/>
          </p15:clr>
        </p15:guide>
        <p15:guide id="43" pos="4744">
          <p15:clr>
            <a:srgbClr val="F26B43"/>
          </p15:clr>
        </p15:guide>
        <p15:guide id="44" pos="982">
          <p15:clr>
            <a:srgbClr val="5ACBF0"/>
          </p15:clr>
        </p15:guide>
        <p15:guide id="46" pos="1271">
          <p15:clr>
            <a:srgbClr val="5ACBF0"/>
          </p15:clr>
        </p15:guide>
        <p15:guide id="47" pos="1886">
          <p15:clr>
            <a:srgbClr val="5ACBF0"/>
          </p15:clr>
        </p15:guide>
        <p15:guide id="48" pos="2174">
          <p15:clr>
            <a:srgbClr val="5ACBF0"/>
          </p15:clr>
        </p15:guide>
        <p15:guide id="49" pos="2791">
          <p15:clr>
            <a:srgbClr val="5ACBF0"/>
          </p15:clr>
        </p15:guide>
        <p15:guide id="50" pos="3079">
          <p15:clr>
            <a:srgbClr val="5ACBF0"/>
          </p15:clr>
        </p15:guide>
        <p15:guide id="51" pos="4602">
          <p15:clr>
            <a:srgbClr val="5ACBF0"/>
          </p15:clr>
        </p15:guide>
        <p15:guide id="52" pos="4885">
          <p15:clr>
            <a:srgbClr val="5ACBF0"/>
          </p15:clr>
        </p15:guide>
        <p15:guide id="53" pos="5504">
          <p15:clr>
            <a:srgbClr val="5ACBF0"/>
          </p15:clr>
        </p15:guide>
        <p15:guide id="54" pos="5791">
          <p15:clr>
            <a:srgbClr val="5ACBF0"/>
          </p15:clr>
        </p15:guide>
        <p15:guide id="55" pos="6410">
          <p15:clr>
            <a:srgbClr val="5ACBF0"/>
          </p15:clr>
        </p15:guide>
        <p15:guide id="56" pos="6696">
          <p15:clr>
            <a:srgbClr val="5ACBF0"/>
          </p15:clr>
        </p15:guide>
        <p15:guide id="58" orient="horz" pos="2160">
          <p15:clr>
            <a:srgbClr val="F26B43"/>
          </p15:clr>
        </p15:guide>
        <p15:guide id="59" orient="horz" pos="3881">
          <p15:clr>
            <a:srgbClr val="547EBF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urldefense.com/v3/__https:/studio.d-id.com/agents/share?id=v2_agt_EZWsVkEt&amp;utm_source=copy&amp;key=WjI5dloyeGxMVzloZFhSb01ud3hNREkwT0RBME9EWTBORFF6TXpJMU9EVTBPRFE2VkU0NFprRlNMV1F4YlU1UVRHRnhaMGxoUzIxWQ==__;!!BhdT!mdnmPyd4kj_CsvAtDh-_R43bSAk2t3M3BUGEwxQHwzraUvxgmsqN84yt4x0A08_zf0kW3jUXjw1U7ys9MA$" TargetMode="External"/><Relationship Id="rId2" Type="http://schemas.openxmlformats.org/officeDocument/2006/relationships/hyperlink" Target="https://urldefense.com/v3/__https:/deidentificationinc.ordeimos.com/c/joe-murphydeidentification-co*/select-time__;Iw!!BhdT!mdnmPyd4kj_CsvAtDh-_R43bSAk2t3M3BUGEwxQHwzraUvxgmsqN84yt4x0A08_zf0kW3jUXjw0QwzJlrw$" TargetMode="External"/><Relationship Id="rId1" Type="http://schemas.openxmlformats.org/officeDocument/2006/relationships/slideLayout" Target="../slideLayouts/slideLayout2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E81FF-2A52-474B-809F-A220EA998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0806" y="245863"/>
            <a:ext cx="10172040" cy="1636913"/>
          </a:xfrm>
        </p:spPr>
        <p:txBody>
          <a:bodyPr/>
          <a:lstStyle/>
          <a:p>
            <a:r>
              <a:rPr lang="en-US" dirty="0"/>
              <a:t>AT&amp;T  Innovation Studio</a:t>
            </a:r>
            <a:br>
              <a:rPr lang="en-US" dirty="0"/>
            </a:br>
            <a:r>
              <a:rPr lang="en-US" dirty="0"/>
              <a:t>GenAI Video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4A025B-B3E0-4FC9-A5D5-E8E94076FFE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4689" y="2071376"/>
            <a:ext cx="6421711" cy="713232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Jun  02  2025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4C7B3135-913F-4952-8331-E9088DCC281A}"/>
              </a:ext>
            </a:extLst>
          </p:cNvPr>
          <p:cNvSpPr txBox="1">
            <a:spLocks/>
          </p:cNvSpPr>
          <p:nvPr/>
        </p:nvSpPr>
        <p:spPr>
          <a:xfrm>
            <a:off x="1063405" y="6492239"/>
            <a:ext cx="8509220" cy="299086"/>
          </a:xfrm>
          <a:prstGeom prst="rect">
            <a:avLst/>
          </a:prstGeom>
          <a:noFill/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TT Aleck Sans" panose="020B0503020203020204" pitchFamily="34" charset="0"/>
                <a:ea typeface="+mn-ea"/>
                <a:cs typeface="+mn-cs"/>
              </a:rPr>
              <a:t>2022 5GIS Sponsor Summit / Nov 8, 2022 / © 2022 AT&amp;T Intellectual Property - AT&amp;T Proprietary (Internal Use Only) - </a:t>
            </a: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TT Aleck Sans" panose="020B0503020203020204" pitchFamily="34" charset="0"/>
                <a:ea typeface="+mn-ea"/>
                <a:cs typeface="+mn-cs"/>
              </a:rPr>
              <a:t>Shared under NDA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34F60E8-3A49-9594-AD0E-9B431E92D035}"/>
              </a:ext>
            </a:extLst>
          </p:cNvPr>
          <p:cNvSpPr txBox="1"/>
          <p:nvPr/>
        </p:nvSpPr>
        <p:spPr>
          <a:xfrm>
            <a:off x="4724400" y="3200400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TT Aleck Sans" panose="020B0503020203020204" pitchFamily="34" charset="0"/>
                <a:ea typeface="+mn-ea"/>
                <a:cs typeface="ATT Aleck Sans" panose="020B0503020203020204" pitchFamily="34" charset="0"/>
              </a:rPr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6877416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20B7C2-2EEC-27AC-3CF6-E74B26B3A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1880AB-DAC8-65F6-2E20-F2D9BEE41C41}"/>
              </a:ext>
            </a:extLst>
          </p:cNvPr>
          <p:cNvSpPr txBox="1"/>
          <p:nvPr/>
        </p:nvSpPr>
        <p:spPr>
          <a:xfrm>
            <a:off x="432262" y="1551974"/>
            <a:ext cx="10432472" cy="3354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US" sz="4400" b="1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Team &amp; Collaboration</a:t>
            </a:r>
            <a:endParaRPr lang="en-US" sz="4400" b="1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800" b="1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Michael Owen</a:t>
            </a:r>
            <a:r>
              <a:rPr lang="en-US" sz="2800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 – Project lead and CDO team rep.</a:t>
            </a:r>
            <a:endParaRPr lang="en-US" sz="28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800" b="1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Mohamed Khalil</a:t>
            </a:r>
            <a:r>
              <a:rPr lang="en-US" sz="2800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 – Based in Plano; point of contact.</a:t>
            </a:r>
            <a:endParaRPr lang="en-US" sz="28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800" b="1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Virginia Ng</a:t>
            </a:r>
            <a:r>
              <a:rPr lang="en-US" sz="2800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 – Based in Alpharetta; assisting with exploration.</a:t>
            </a:r>
            <a:endParaRPr lang="en-US" sz="28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800" b="1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Austin Hensley</a:t>
            </a:r>
            <a:r>
              <a:rPr lang="en-US" sz="2800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 – Will be added to meetings; has </a:t>
            </a:r>
            <a:r>
              <a:rPr lang="en-US" sz="2800" b="1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hands-on experience</a:t>
            </a:r>
            <a:r>
              <a:rPr lang="en-US" sz="2800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 with GenAI tools and can provide </a:t>
            </a:r>
            <a:r>
              <a:rPr lang="en-US" sz="2800" b="1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personal insights and recommendations</a:t>
            </a:r>
            <a:r>
              <a:rPr lang="en-US" sz="2800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.</a:t>
            </a:r>
            <a:endParaRPr lang="en-US" sz="28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82299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7E678E-415B-0D5A-5A0F-E5B5EBB50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F8D74B-C296-0FD9-312B-1F9141939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49C1F2-8B43-77EB-776C-CE93FE596861}"/>
              </a:ext>
            </a:extLst>
          </p:cNvPr>
          <p:cNvSpPr txBox="1"/>
          <p:nvPr/>
        </p:nvSpPr>
        <p:spPr>
          <a:xfrm>
            <a:off x="838200" y="2045586"/>
            <a:ext cx="10450484" cy="2923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US" sz="3200" b="1" dirty="0">
                <a:effectLst/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🔐</a:t>
            </a:r>
            <a:r>
              <a:rPr lang="en-US" sz="3200" b="1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 </a:t>
            </a:r>
            <a:r>
              <a:rPr lang="en-US" sz="4000" b="1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Procurement &amp; Governance</a:t>
            </a:r>
            <a:endParaRPr lang="en-US" sz="4000" b="1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b="1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No governance or use case submission</a:t>
            </a:r>
            <a:r>
              <a:rPr lang="en-US" sz="2400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 needed for this initiative.</a:t>
            </a:r>
            <a:endParaRPr lang="en-US" sz="24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Subscriptions can be </a:t>
            </a:r>
            <a:r>
              <a:rPr lang="en-US" sz="2400" b="1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paid internally</a:t>
            </a:r>
            <a:r>
              <a:rPr lang="en-US" sz="2400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 even if the platform isn’t on the official vendor list.</a:t>
            </a:r>
            <a:endParaRPr lang="en-US" sz="24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Workaround exists for software purchases not typically allowed via corporate credit cards.</a:t>
            </a:r>
            <a:endParaRPr lang="en-US" sz="24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0" marR="0">
              <a:buNone/>
            </a:pPr>
            <a:r>
              <a:rPr lang="en-US" sz="2400" dirty="0">
                <a:effectLst/>
                <a:latin typeface="Helvetica" panose="020B06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 </a:t>
            </a:r>
            <a:endParaRPr lang="en-US" sz="24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96860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7506577-068F-965B-511E-FD1577F24C88}"/>
              </a:ext>
            </a:extLst>
          </p:cNvPr>
          <p:cNvSpPr txBox="1"/>
          <p:nvPr/>
        </p:nvSpPr>
        <p:spPr>
          <a:xfrm>
            <a:off x="498763" y="756907"/>
            <a:ext cx="11039301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US" sz="3200" b="1" dirty="0">
                <a:effectLst/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🎯</a:t>
            </a:r>
            <a:r>
              <a:rPr lang="en-US" sz="3200" b="1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 </a:t>
            </a:r>
            <a:r>
              <a:rPr lang="en-US" sz="4000" b="1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Project Goals</a:t>
            </a:r>
            <a:endParaRPr lang="en-US" sz="4000" b="1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42900" marR="0" lvl="0" indent="-342900"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US" sz="2400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Create </a:t>
            </a:r>
            <a:r>
              <a:rPr lang="en-US" sz="2400" b="1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short generative AI videos</a:t>
            </a:r>
            <a:r>
              <a:rPr lang="en-US" sz="2400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 (5–30 seconds) for AT&amp;T presentations.</a:t>
            </a:r>
            <a:endParaRPr lang="en-US" sz="24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42900" marR="0" lvl="0" indent="-342900"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US" sz="2400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Focus on </a:t>
            </a:r>
            <a:r>
              <a:rPr lang="en-US" sz="2400" b="1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high-quality visuals</a:t>
            </a:r>
            <a:r>
              <a:rPr lang="en-US" sz="2400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 (e.g., animated news clippings like a full-screen chyron).</a:t>
            </a:r>
            <a:endParaRPr lang="en-US" sz="24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42900" marR="0" lvl="0" indent="-342900"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US" sz="2400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Develop an </a:t>
            </a:r>
            <a:r>
              <a:rPr lang="en-US" sz="2400" b="1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End User License Agreement</a:t>
            </a:r>
            <a:r>
              <a:rPr lang="en-US" sz="2400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 (EULA) explainer video using GenAI.</a:t>
            </a:r>
            <a:endParaRPr lang="en-US" sz="24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42900" marR="0" lvl="0" indent="-342900"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US" sz="2400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Recreate </a:t>
            </a:r>
            <a:r>
              <a:rPr lang="en-US" sz="2400" b="1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small clips of past AT&amp;T year-end videos</a:t>
            </a:r>
            <a:r>
              <a:rPr lang="en-US" sz="2400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 (e.g., secret agent, rock band, starship) with GenAI — </a:t>
            </a:r>
            <a:r>
              <a:rPr lang="en-US" sz="2400" b="1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30 seconds to 1 minute max</a:t>
            </a:r>
            <a:r>
              <a:rPr lang="en-US" sz="2400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.</a:t>
            </a:r>
            <a:endParaRPr lang="en-US" sz="24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42900" marR="0" lvl="0" indent="-342900"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US" sz="2400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Objective: </a:t>
            </a:r>
            <a:r>
              <a:rPr lang="en-US" sz="2400" b="1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Avoid reliance on media production teams</a:t>
            </a:r>
            <a:r>
              <a:rPr lang="en-US" sz="2400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 for small video needs.</a:t>
            </a:r>
            <a:endParaRPr lang="en-US" sz="24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27941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8D260-370D-C652-EA4A-280D3B29E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3729D9-9BA4-0FB2-C81E-E68B2E04B019}"/>
              </a:ext>
            </a:extLst>
          </p:cNvPr>
          <p:cNvSpPr txBox="1"/>
          <p:nvPr/>
        </p:nvSpPr>
        <p:spPr>
          <a:xfrm>
            <a:off x="473825" y="1499624"/>
            <a:ext cx="11213870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US" sz="3600" b="1" dirty="0">
                <a:effectLst/>
                <a:ea typeface="Times New Roman" panose="02020603050405020304" pitchFamily="18" charset="0"/>
                <a:cs typeface="Segoe UI Emoji" panose="020B0502040204020203" pitchFamily="34" charset="0"/>
              </a:rPr>
              <a:t>🛠️</a:t>
            </a:r>
            <a:r>
              <a:rPr lang="en-US" sz="3600" b="1" dirty="0">
                <a:effectLst/>
                <a:ea typeface="Times New Roman" panose="02020603050405020304" pitchFamily="18" charset="0"/>
                <a:cs typeface="Aptos" panose="020B0004020202020204" pitchFamily="34" charset="0"/>
              </a:rPr>
              <a:t> Preferred Tools and Platforms</a:t>
            </a:r>
            <a:endParaRPr lang="en-US" sz="3600" b="1" dirty="0">
              <a:effectLst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b="1" dirty="0">
                <a:effectLst/>
                <a:ea typeface="Times New Roman" panose="02020603050405020304" pitchFamily="18" charset="0"/>
                <a:cs typeface="Aptos" panose="020B0004020202020204" pitchFamily="34" charset="0"/>
              </a:rPr>
              <a:t>Start with Sora by OpenAI</a:t>
            </a:r>
            <a:endParaRPr lang="en-US" sz="2400" dirty="0">
              <a:effectLst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742950" marR="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4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Recommended due to </a:t>
            </a:r>
            <a:r>
              <a:rPr lang="en-US" sz="24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existing AT&amp;T relationship</a:t>
            </a:r>
            <a:r>
              <a:rPr lang="en-US" sz="24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with OpenAI.</a:t>
            </a:r>
            <a:endParaRPr lang="en-US" sz="24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4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Potential for </a:t>
            </a:r>
            <a:r>
              <a:rPr lang="en-US" sz="24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early internal access</a:t>
            </a:r>
            <a:r>
              <a:rPr lang="en-US" sz="24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b="1" dirty="0">
                <a:effectLst/>
                <a:ea typeface="Times New Roman" panose="02020603050405020304" pitchFamily="18" charset="0"/>
                <a:cs typeface="Aptos" panose="020B0004020202020204" pitchFamily="34" charset="0"/>
              </a:rPr>
              <a:t>No restrictions</a:t>
            </a:r>
            <a:r>
              <a:rPr lang="en-US" sz="2400" dirty="0">
                <a:effectLst/>
                <a:ea typeface="Times New Roman" panose="02020603050405020304" pitchFamily="18" charset="0"/>
                <a:cs typeface="Aptos" panose="020B0004020202020204" pitchFamily="34" charset="0"/>
              </a:rPr>
              <a:t> on platforms:</a:t>
            </a:r>
            <a:endParaRPr lang="en-US" sz="2400" dirty="0">
              <a:effectLst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742950" marR="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4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Team is </a:t>
            </a:r>
            <a:r>
              <a:rPr lang="en-US" sz="24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free to explore</a:t>
            </a:r>
            <a:r>
              <a:rPr lang="en-US" sz="24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any generative AI video tools.</a:t>
            </a:r>
            <a:endParaRPr lang="en-US" sz="24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4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sz="24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paid tools</a:t>
            </a:r>
            <a:r>
              <a:rPr lang="en-US" sz="24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are required (e.g., $20–$50 subscriptions), Michael Owen can facilitate purchases.</a:t>
            </a:r>
            <a:endParaRPr lang="en-US" sz="24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b="1" i="1" u="sng" dirty="0">
                <a:solidFill>
                  <a:srgbClr val="FF0000"/>
                </a:solidFill>
                <a:effectLst/>
                <a:ea typeface="Times New Roman" panose="02020603050405020304" pitchFamily="18" charset="0"/>
                <a:cs typeface="Aptos" panose="020B0004020202020204" pitchFamily="34" charset="0"/>
              </a:rPr>
              <a:t>There are many tools. Found some tools using google search at end of email</a:t>
            </a:r>
            <a:endParaRPr lang="en-US" sz="1000" dirty="0">
              <a:solidFill>
                <a:srgbClr val="FF0000"/>
              </a:solidFill>
              <a:effectLst/>
              <a:ea typeface="Aptos" panose="020B0004020202020204" pitchFamily="34" charset="0"/>
              <a:cs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04845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F2A2074-B49A-BAFB-FE92-6BEE11CC0F57}"/>
              </a:ext>
            </a:extLst>
          </p:cNvPr>
          <p:cNvSpPr txBox="1"/>
          <p:nvPr/>
        </p:nvSpPr>
        <p:spPr>
          <a:xfrm>
            <a:off x="315884" y="1060083"/>
            <a:ext cx="10573790" cy="3724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US" sz="1350" b="1" dirty="0">
                <a:effectLst/>
                <a:latin typeface="Segoe UI Emoji" panose="020B0502040204020203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✅</a:t>
            </a:r>
            <a:r>
              <a:rPr lang="en-US" sz="1350" b="1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 </a:t>
            </a:r>
            <a:r>
              <a:rPr lang="en-US" sz="4000" b="1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Next Steps</a:t>
            </a:r>
            <a:endParaRPr lang="en-US" sz="4000" b="1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800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Michael to:</a:t>
            </a:r>
            <a:endParaRPr lang="en-US" sz="28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742950" marR="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800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Share the </a:t>
            </a:r>
            <a:r>
              <a:rPr lang="en-US" sz="2800" b="1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script</a:t>
            </a:r>
            <a:r>
              <a:rPr lang="en-US" sz="2800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for the short video tests.</a:t>
            </a:r>
            <a:endParaRPr lang="en-US" sz="28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800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Provide </a:t>
            </a:r>
            <a:r>
              <a:rPr lang="en-US" sz="2800" b="1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Austin Hensley’s contact info</a:t>
            </a:r>
            <a:r>
              <a:rPr lang="en-US" sz="2800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8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800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Mohamed to:</a:t>
            </a:r>
            <a:endParaRPr lang="en-US" sz="28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742950" marR="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800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Coordinate a </a:t>
            </a:r>
            <a:r>
              <a:rPr lang="en-US" sz="2800" b="1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follow-up meeting</a:t>
            </a:r>
            <a:r>
              <a:rPr lang="en-US" sz="2800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with Austin and Virginia.</a:t>
            </a:r>
            <a:endParaRPr lang="en-US" sz="28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800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Virginia:</a:t>
            </a:r>
            <a:endParaRPr lang="en-US" sz="28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742950" marR="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800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Confirmed no additional </a:t>
            </a:r>
            <a:r>
              <a:rPr lang="en-US" sz="2800" b="1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governance steps</a:t>
            </a:r>
            <a:r>
              <a:rPr lang="en-US" sz="2800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required.</a:t>
            </a:r>
            <a:endParaRPr lang="en-US" sz="28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42190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EE9A4E9-F43C-1325-99E8-59B9074CF6A4}"/>
              </a:ext>
            </a:extLst>
          </p:cNvPr>
          <p:cNvGraphicFramePr>
            <a:graphicFrameLocks noGrp="1"/>
          </p:cNvGraphicFramePr>
          <p:nvPr/>
        </p:nvGraphicFramePr>
        <p:xfrm>
          <a:off x="1354326" y="643467"/>
          <a:ext cx="9483350" cy="5571067"/>
        </p:xfrm>
        <a:graphic>
          <a:graphicData uri="http://schemas.openxmlformats.org/drawingml/2006/table">
            <a:tbl>
              <a:tblPr firstRow="1" firstCol="1" bandRow="1"/>
              <a:tblGrid>
                <a:gridCol w="1727044">
                  <a:extLst>
                    <a:ext uri="{9D8B030D-6E8A-4147-A177-3AD203B41FA5}">
                      <a16:colId xmlns:a16="http://schemas.microsoft.com/office/drawing/2014/main" val="400438340"/>
                    </a:ext>
                  </a:extLst>
                </a:gridCol>
                <a:gridCol w="2155704">
                  <a:extLst>
                    <a:ext uri="{9D8B030D-6E8A-4147-A177-3AD203B41FA5}">
                      <a16:colId xmlns:a16="http://schemas.microsoft.com/office/drawing/2014/main" val="1011667660"/>
                    </a:ext>
                  </a:extLst>
                </a:gridCol>
                <a:gridCol w="1512893">
                  <a:extLst>
                    <a:ext uri="{9D8B030D-6E8A-4147-A177-3AD203B41FA5}">
                      <a16:colId xmlns:a16="http://schemas.microsoft.com/office/drawing/2014/main" val="1020597262"/>
                    </a:ext>
                  </a:extLst>
                </a:gridCol>
                <a:gridCol w="4087709">
                  <a:extLst>
                    <a:ext uri="{9D8B030D-6E8A-4147-A177-3AD203B41FA5}">
                      <a16:colId xmlns:a16="http://schemas.microsoft.com/office/drawing/2014/main" val="436210073"/>
                    </a:ext>
                  </a:extLst>
                </a:gridCol>
              </a:tblGrid>
              <a:tr h="330241">
                <a:tc>
                  <a:txBody>
                    <a:bodyPr/>
                    <a:lstStyle/>
                    <a:p>
                      <a:pPr marL="0" marR="0" algn="l" font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b="1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Tool Name</a:t>
                      </a:r>
                      <a:endParaRPr lang="en-US" sz="2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384" marR="13384" marT="13384" marB="1338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b="1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Use Case</a:t>
                      </a:r>
                      <a:endParaRPr lang="en-US" sz="2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384" marR="13384" marT="13384" marB="1338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b="1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Ease of Use</a:t>
                      </a:r>
                      <a:endParaRPr lang="en-US" sz="2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384" marR="13384" marT="13384" marB="1338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b="1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Key Features</a:t>
                      </a:r>
                      <a:endParaRPr lang="en-US" sz="2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384" marR="13384" marT="13384" marB="1338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0876503"/>
                  </a:ext>
                </a:extLst>
              </a:tr>
              <a:tr h="582314">
                <a:tc>
                  <a:txBody>
                    <a:bodyPr/>
                    <a:lstStyle/>
                    <a:p>
                      <a:pPr marL="0" marR="0" algn="l" font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b="1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Runway ML (Gen-2)</a:t>
                      </a:r>
                      <a:endParaRPr lang="en-US" sz="2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384" marR="13384" marT="13384" marB="1338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b="0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Text-to-video, video editing</a:t>
                      </a:r>
                      <a:endParaRPr lang="en-US" sz="2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384" marR="13384" marT="13384" marB="1338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b="0" i="0" u="none" strike="noStrike" kern="100">
                          <a:effectLst/>
                          <a:latin typeface="Segoe UI Emoji" panose="020B0502040204020203" pitchFamily="34" charset="0"/>
                          <a:ea typeface="Aptos" panose="020B0004020202020204" pitchFamily="34" charset="0"/>
                          <a:cs typeface="Segoe UI Emoji" panose="020B0502040204020203" pitchFamily="34" charset="0"/>
                        </a:rPr>
                        <a:t>⭐⭐⭐⭐</a:t>
                      </a:r>
                      <a:r>
                        <a:rPr lang="en-US" sz="1500" b="0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Segoe UI Symbol" panose="020B0502040204020203" pitchFamily="34" charset="0"/>
                        </a:rPr>
                        <a:t>☆</a:t>
                      </a:r>
                      <a:r>
                        <a:rPr lang="en-US" sz="1500" b="0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Easy</a:t>
                      </a:r>
                      <a:endParaRPr lang="en-US" sz="2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384" marR="13384" marT="13384" marB="1338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b="0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Text/image input → video, inpainting, motion brush, no code.</a:t>
                      </a:r>
                      <a:endParaRPr lang="en-US" sz="2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384" marR="13384" marT="13384" marB="1338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7984517"/>
                  </a:ext>
                </a:extLst>
              </a:tr>
              <a:tr h="582314">
                <a:tc>
                  <a:txBody>
                    <a:bodyPr/>
                    <a:lstStyle/>
                    <a:p>
                      <a:pPr marL="0" marR="0" algn="l" font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b="1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Pika Labs</a:t>
                      </a:r>
                      <a:endParaRPr lang="en-US" sz="2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384" marR="13384" marT="13384" marB="1338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b="0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Text-to-video</a:t>
                      </a:r>
                      <a:endParaRPr lang="en-US" sz="2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384" marR="13384" marT="13384" marB="1338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b="0" i="0" u="none" strike="noStrike" kern="100">
                          <a:effectLst/>
                          <a:latin typeface="Segoe UI Emoji" panose="020B0502040204020203" pitchFamily="34" charset="0"/>
                          <a:ea typeface="Aptos" panose="020B0004020202020204" pitchFamily="34" charset="0"/>
                          <a:cs typeface="Segoe UI Emoji" panose="020B0502040204020203" pitchFamily="34" charset="0"/>
                        </a:rPr>
                        <a:t>⭐⭐⭐⭐</a:t>
                      </a:r>
                      <a:r>
                        <a:rPr lang="en-US" sz="1500" b="0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Segoe UI Symbol" panose="020B0502040204020203" pitchFamily="34" charset="0"/>
                        </a:rPr>
                        <a:t>☆</a:t>
                      </a:r>
                      <a:r>
                        <a:rPr lang="en-US" sz="1500" b="0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Easy</a:t>
                      </a:r>
                      <a:endParaRPr lang="en-US" sz="2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384" marR="13384" marT="13384" marB="1338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b="0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Simple prompt-based video generation, supports animation styles.</a:t>
                      </a:r>
                      <a:endParaRPr lang="en-US" sz="2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384" marR="13384" marT="13384" marB="1338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1477721"/>
                  </a:ext>
                </a:extLst>
              </a:tr>
              <a:tr h="582314">
                <a:tc>
                  <a:txBody>
                    <a:bodyPr/>
                    <a:lstStyle/>
                    <a:p>
                      <a:pPr marL="0" marR="0" algn="l" font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b="1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Sora (by OpenAI)</a:t>
                      </a:r>
                      <a:endParaRPr lang="en-US" sz="2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384" marR="13384" marT="13384" marB="1338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b="0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Ultra-realistic video from text</a:t>
                      </a:r>
                      <a:endParaRPr lang="en-US" sz="2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384" marR="13384" marT="13384" marB="1338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b="0" i="0" u="none" strike="noStrike" kern="100">
                          <a:effectLst/>
                          <a:latin typeface="Segoe UI Emoji" panose="020B0502040204020203" pitchFamily="34" charset="0"/>
                          <a:ea typeface="Aptos" panose="020B0004020202020204" pitchFamily="34" charset="0"/>
                          <a:cs typeface="Segoe UI Emoji" panose="020B0502040204020203" pitchFamily="34" charset="0"/>
                        </a:rPr>
                        <a:t>⭐⭐⭐</a:t>
                      </a:r>
                      <a:r>
                        <a:rPr lang="en-US" sz="1500" b="0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Segoe UI Symbol" panose="020B0502040204020203" pitchFamily="34" charset="0"/>
                        </a:rPr>
                        <a:t>☆☆</a:t>
                      </a:r>
                      <a:r>
                        <a:rPr lang="en-US" sz="1500" b="0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Medium</a:t>
                      </a:r>
                      <a:endParaRPr lang="en-US" sz="2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384" marR="13384" marT="13384" marB="1338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b="0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Not publicly available yet (as of May 2025); cinematic realism.</a:t>
                      </a:r>
                      <a:endParaRPr lang="en-US" sz="2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384" marR="13384" marT="13384" marB="1338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4177159"/>
                  </a:ext>
                </a:extLst>
              </a:tr>
              <a:tr h="582314">
                <a:tc>
                  <a:txBody>
                    <a:bodyPr/>
                    <a:lstStyle/>
                    <a:p>
                      <a:pPr marL="0" marR="0" algn="l" font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b="1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Synthesia</a:t>
                      </a:r>
                      <a:endParaRPr lang="en-US" sz="2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384" marR="13384" marT="13384" marB="1338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b="0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AI avatars speaking video scripts</a:t>
                      </a:r>
                      <a:endParaRPr lang="en-US" sz="2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384" marR="13384" marT="13384" marB="1338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b="0" i="0" u="none" strike="noStrike" kern="100">
                          <a:effectLst/>
                          <a:latin typeface="Segoe UI Emoji" panose="020B0502040204020203" pitchFamily="34" charset="0"/>
                          <a:ea typeface="Aptos" panose="020B0004020202020204" pitchFamily="34" charset="0"/>
                          <a:cs typeface="Segoe UI Emoji" panose="020B0502040204020203" pitchFamily="34" charset="0"/>
                        </a:rPr>
                        <a:t>⭐⭐⭐⭐⭐</a:t>
                      </a:r>
                      <a:r>
                        <a:rPr lang="en-US" sz="1500" b="0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Very Easy</a:t>
                      </a:r>
                      <a:endParaRPr lang="en-US" sz="2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384" marR="13384" marT="13384" marB="1338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b="0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Turn text to video with avatars, supports 120+ languages.</a:t>
                      </a:r>
                      <a:endParaRPr lang="en-US" sz="2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384" marR="13384" marT="13384" marB="1338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2415288"/>
                  </a:ext>
                </a:extLst>
              </a:tr>
              <a:tr h="582314">
                <a:tc>
                  <a:txBody>
                    <a:bodyPr/>
                    <a:lstStyle/>
                    <a:p>
                      <a:pPr marL="0" marR="0" algn="l" font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b="1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Hour One</a:t>
                      </a:r>
                      <a:endParaRPr lang="en-US" sz="2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384" marR="13384" marT="13384" marB="1338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b="0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Talking head video creation</a:t>
                      </a:r>
                      <a:endParaRPr lang="en-US" sz="2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384" marR="13384" marT="13384" marB="1338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b="0" i="0" u="none" strike="noStrike" kern="100">
                          <a:effectLst/>
                          <a:latin typeface="Segoe UI Emoji" panose="020B0502040204020203" pitchFamily="34" charset="0"/>
                          <a:ea typeface="Aptos" panose="020B0004020202020204" pitchFamily="34" charset="0"/>
                          <a:cs typeface="Segoe UI Emoji" panose="020B0502040204020203" pitchFamily="34" charset="0"/>
                        </a:rPr>
                        <a:t>⭐⭐⭐⭐⭐</a:t>
                      </a:r>
                      <a:r>
                        <a:rPr lang="en-US" sz="1500" b="0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Very Easy</a:t>
                      </a:r>
                      <a:endParaRPr lang="en-US" sz="2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384" marR="13384" marT="13384" marB="1338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b="0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Script to AI presenter video; drag-and-drop editor.</a:t>
                      </a:r>
                      <a:endParaRPr lang="en-US" sz="2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384" marR="13384" marT="13384" marB="1338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6860561"/>
                  </a:ext>
                </a:extLst>
              </a:tr>
              <a:tr h="582314">
                <a:tc>
                  <a:txBody>
                    <a:bodyPr/>
                    <a:lstStyle/>
                    <a:p>
                      <a:pPr marL="0" marR="0" algn="l" font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b="1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D-ID</a:t>
                      </a:r>
                      <a:endParaRPr lang="en-US" sz="2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384" marR="13384" marT="13384" marB="1338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b="0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Talking face animation + audio</a:t>
                      </a:r>
                      <a:endParaRPr lang="en-US" sz="2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384" marR="13384" marT="13384" marB="1338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b="0" i="0" u="none" strike="noStrike" kern="100">
                          <a:effectLst/>
                          <a:latin typeface="Segoe UI Emoji" panose="020B0502040204020203" pitchFamily="34" charset="0"/>
                          <a:ea typeface="Aptos" panose="020B0004020202020204" pitchFamily="34" charset="0"/>
                          <a:cs typeface="Segoe UI Emoji" panose="020B0502040204020203" pitchFamily="34" charset="0"/>
                        </a:rPr>
                        <a:t>⭐⭐⭐⭐⭐</a:t>
                      </a:r>
                      <a:r>
                        <a:rPr lang="en-US" sz="1500" b="0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Very Easy</a:t>
                      </a:r>
                      <a:endParaRPr lang="en-US" sz="2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384" marR="13384" marT="13384" marB="1338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b="0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Type or upload speech + image → talking video.</a:t>
                      </a:r>
                      <a:endParaRPr lang="en-US" sz="2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384" marR="13384" marT="13384" marB="1338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0756713"/>
                  </a:ext>
                </a:extLst>
              </a:tr>
              <a:tr h="582314">
                <a:tc>
                  <a:txBody>
                    <a:bodyPr/>
                    <a:lstStyle/>
                    <a:p>
                      <a:pPr marL="0" marR="0" algn="l" font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b="1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DeepBrain AI</a:t>
                      </a:r>
                      <a:endParaRPr lang="en-US" sz="2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384" marR="13384" marT="13384" marB="1338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b="0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AI presenter from script</a:t>
                      </a:r>
                      <a:endParaRPr lang="en-US" sz="2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384" marR="13384" marT="13384" marB="1338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b="0" i="0" u="none" strike="noStrike" kern="100">
                          <a:effectLst/>
                          <a:latin typeface="Segoe UI Emoji" panose="020B0502040204020203" pitchFamily="34" charset="0"/>
                          <a:ea typeface="Aptos" panose="020B0004020202020204" pitchFamily="34" charset="0"/>
                          <a:cs typeface="Segoe UI Emoji" panose="020B0502040204020203" pitchFamily="34" charset="0"/>
                        </a:rPr>
                        <a:t>⭐⭐⭐⭐</a:t>
                      </a:r>
                      <a:r>
                        <a:rPr lang="en-US" sz="1500" b="0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Segoe UI Symbol" panose="020B0502040204020203" pitchFamily="34" charset="0"/>
                        </a:rPr>
                        <a:t>☆</a:t>
                      </a:r>
                      <a:r>
                        <a:rPr lang="en-US" sz="1500" b="0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Easy</a:t>
                      </a:r>
                      <a:endParaRPr lang="en-US" sz="2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384" marR="13384" marT="13384" marB="1338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b="0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Converts text to human-like avatars with gestures/speech.</a:t>
                      </a:r>
                      <a:endParaRPr lang="en-US" sz="2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384" marR="13384" marT="13384" marB="1338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8355266"/>
                  </a:ext>
                </a:extLst>
              </a:tr>
              <a:tr h="582314">
                <a:tc>
                  <a:txBody>
                    <a:bodyPr/>
                    <a:lstStyle/>
                    <a:p>
                      <a:pPr marL="0" marR="0" algn="l" font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b="1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HeyGen (formerly Movio)</a:t>
                      </a:r>
                      <a:endParaRPr lang="en-US" sz="2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384" marR="13384" marT="13384" marB="1338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b="0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AI avatar + language translation</a:t>
                      </a:r>
                      <a:endParaRPr lang="en-US" sz="2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384" marR="13384" marT="13384" marB="1338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b="0" i="0" u="none" strike="noStrike" kern="100">
                          <a:effectLst/>
                          <a:latin typeface="Segoe UI Emoji" panose="020B0502040204020203" pitchFamily="34" charset="0"/>
                          <a:ea typeface="Aptos" panose="020B0004020202020204" pitchFamily="34" charset="0"/>
                          <a:cs typeface="Segoe UI Emoji" panose="020B0502040204020203" pitchFamily="34" charset="0"/>
                        </a:rPr>
                        <a:t>⭐⭐⭐⭐</a:t>
                      </a:r>
                      <a:r>
                        <a:rPr lang="en-US" sz="1500" b="0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Segoe UI Symbol" panose="020B0502040204020203" pitchFamily="34" charset="0"/>
                        </a:rPr>
                        <a:t>☆</a:t>
                      </a:r>
                      <a:r>
                        <a:rPr lang="en-US" sz="1500" b="0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Easy</a:t>
                      </a:r>
                      <a:endParaRPr lang="en-US" sz="2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384" marR="13384" marT="13384" marB="1338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b="0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Great for multilingual marketing/presentation videos.</a:t>
                      </a:r>
                      <a:endParaRPr lang="en-US" sz="2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384" marR="13384" marT="13384" marB="1338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6545565"/>
                  </a:ext>
                </a:extLst>
              </a:tr>
              <a:tr h="582314">
                <a:tc>
                  <a:txBody>
                    <a:bodyPr/>
                    <a:lstStyle/>
                    <a:p>
                      <a:pPr marL="0" marR="0" algn="l" font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b="1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Colossyan</a:t>
                      </a:r>
                      <a:endParaRPr lang="en-US" sz="2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384" marR="13384" marT="13384" marB="1338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b="0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Corporate training &amp; L&amp;D videos</a:t>
                      </a:r>
                      <a:endParaRPr lang="en-US" sz="2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384" marR="13384" marT="13384" marB="1338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b="0" i="0" u="none" strike="noStrike" kern="100">
                          <a:effectLst/>
                          <a:latin typeface="Segoe UI Emoji" panose="020B0502040204020203" pitchFamily="34" charset="0"/>
                          <a:ea typeface="Aptos" panose="020B0004020202020204" pitchFamily="34" charset="0"/>
                          <a:cs typeface="Segoe UI Emoji" panose="020B0502040204020203" pitchFamily="34" charset="0"/>
                        </a:rPr>
                        <a:t>⭐⭐⭐⭐</a:t>
                      </a:r>
                      <a:r>
                        <a:rPr lang="en-US" sz="1500" b="0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Segoe UI Symbol" panose="020B0502040204020203" pitchFamily="34" charset="0"/>
                        </a:rPr>
                        <a:t>☆</a:t>
                      </a:r>
                      <a:r>
                        <a:rPr lang="en-US" sz="1500" b="0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Easy</a:t>
                      </a:r>
                      <a:endParaRPr lang="en-US" sz="2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384" marR="13384" marT="13384" marB="1338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b="0" i="0" u="none" strike="noStrike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Easy interface; create talking head videos from docs/scripts.</a:t>
                      </a:r>
                      <a:endParaRPr lang="en-US" sz="25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384" marR="13384" marT="13384" marB="1338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13307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251313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0FFABD4-8706-D926-D5B4-D1AA262E9FC2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618186"/>
          <a:ext cx="10515600" cy="526745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52600">
                  <a:extLst>
                    <a:ext uri="{9D8B030D-6E8A-4147-A177-3AD203B41FA5}">
                      <a16:colId xmlns:a16="http://schemas.microsoft.com/office/drawing/2014/main" val="3537511644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703421470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4277106546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846948196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516956953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955008986"/>
                    </a:ext>
                  </a:extLst>
                </a:gridCol>
              </a:tblGrid>
              <a:tr h="31571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Tool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Free Plan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Max Duration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Style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Price (Paid Plan)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Notes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995147655"/>
                  </a:ext>
                </a:extLst>
              </a:tr>
              <a:tr h="61896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Runway Gen-2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✅ Limited (with watermark)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18–30 sec per clip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Realistic/Artistic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$12–$76/mo (depends on resolution/credits)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Timeline editor for stitching; good quality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913899774"/>
                  </a:ext>
                </a:extLst>
              </a:tr>
              <a:tr h="61896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Pika Labs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✅ Limited (via Discord)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Up to 1 min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Artistic/Anime/3D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$10–$30/mo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Good stylized and action sequences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52684363"/>
                  </a:ext>
                </a:extLst>
              </a:tr>
              <a:tr h="61896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Kaiber AI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✅ Limited (with watermark)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Up to 2 mins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Stylized/Anime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$10/mo for 300 credits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Great for music videos; fast rendering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022262551"/>
                  </a:ext>
                </a:extLst>
              </a:tr>
              <a:tr h="61896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Synthesia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❌ No free plan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Multiple mins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Talking Head/Avatar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$30/mo (Personal), $100+/mo (Business)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Human avatars with voiceover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345362862"/>
                  </a:ext>
                </a:extLst>
              </a:tr>
              <a:tr h="61896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DeepBrain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❌ No free plan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Up to 5 mins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Realistic Avatar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$29/mo (basic)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High-quality avatar speaking videos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954290624"/>
                  </a:ext>
                </a:extLst>
              </a:tr>
              <a:tr h="61896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HeyGen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✅ Trial with watermark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Up to 5 mins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Avatar/Voice Over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$29/mo (Starter), $89/mo (Pro)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Custom avatars + multi-language voices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791730857"/>
                  </a:ext>
                </a:extLst>
              </a:tr>
              <a:tr h="61896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Animoto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✅ Free (with watermark)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Unlimited (edited manually)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Slideshow/Marketing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$16–$79/mo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Drag-and-drop video creation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807926191"/>
                  </a:ext>
                </a:extLst>
              </a:tr>
              <a:tr h="61896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CapCut (Editor)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✅ Free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Unlimited (manual edits)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Editor only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Free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Use it to combine short AI clips easily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409432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01546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98463CD-E28F-9B32-C5EE-2B699D655E4C}"/>
              </a:ext>
            </a:extLst>
          </p:cNvPr>
          <p:cNvGraphicFramePr>
            <a:graphicFrameLocks noGrp="1"/>
          </p:cNvGraphicFramePr>
          <p:nvPr/>
        </p:nvGraphicFramePr>
        <p:xfrm>
          <a:off x="554865" y="1184858"/>
          <a:ext cx="10515600" cy="325759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154328268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67642429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343455794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75532721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408023916"/>
                    </a:ext>
                  </a:extLst>
                </a:gridCol>
              </a:tblGrid>
              <a:tr h="106894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Plan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Sora Video Generation Support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Max Video Duration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Max Resolution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Cost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350787180"/>
                  </a:ext>
                </a:extLst>
              </a:tr>
              <a:tr h="72954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Free ChatGPT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❌ Not supported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N/A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N/A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Free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767131371"/>
                  </a:ext>
                </a:extLst>
              </a:tr>
              <a:tr h="72954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ChatGPT Plus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✅ Supported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effectLst/>
                        </a:rPr>
                        <a:t>Up to ~5 seconds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Up to 1080p (Full HD)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$20/month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360082205"/>
                  </a:ext>
                </a:extLst>
              </a:tr>
              <a:tr h="72954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ChatGPT Pro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effectLst/>
                        </a:rPr>
                        <a:t>✅ Supported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Up to-20 seconds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Up to 4K (Ultra HD)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effectLst/>
                        </a:rPr>
                        <a:t>$200/month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5916864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059192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DE30B-A6B1-3AD0-F65B-D52D7CF080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Tools that make the </a:t>
            </a:r>
            <a:r>
              <a:rPr lang="en-US" dirty="0" err="1"/>
              <a:t>Avator</a:t>
            </a:r>
            <a:r>
              <a:rPr lang="en-US" dirty="0"/>
              <a:t> Move Lips (Basic Lip animation)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09E4BE-AB1E-7B14-8525-1E34A1DCDEF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4E3109C-F841-A249-A33C-708B7DCDEF14}" type="slidenum">
              <a:rPr lang="en-US" smtClean="0"/>
              <a:t>10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44188E0-E023-245A-4C08-D0D51FD98C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6938434"/>
              </p:ext>
            </p:extLst>
          </p:nvPr>
        </p:nvGraphicFramePr>
        <p:xfrm>
          <a:off x="1108180" y="1920122"/>
          <a:ext cx="8515035" cy="22582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03007">
                  <a:extLst>
                    <a:ext uri="{9D8B030D-6E8A-4147-A177-3AD203B41FA5}">
                      <a16:colId xmlns:a16="http://schemas.microsoft.com/office/drawing/2014/main" val="1293737147"/>
                    </a:ext>
                  </a:extLst>
                </a:gridCol>
                <a:gridCol w="1703007">
                  <a:extLst>
                    <a:ext uri="{9D8B030D-6E8A-4147-A177-3AD203B41FA5}">
                      <a16:colId xmlns:a16="http://schemas.microsoft.com/office/drawing/2014/main" val="224725348"/>
                    </a:ext>
                  </a:extLst>
                </a:gridCol>
                <a:gridCol w="1703007">
                  <a:extLst>
                    <a:ext uri="{9D8B030D-6E8A-4147-A177-3AD203B41FA5}">
                      <a16:colId xmlns:a16="http://schemas.microsoft.com/office/drawing/2014/main" val="3108583790"/>
                    </a:ext>
                  </a:extLst>
                </a:gridCol>
                <a:gridCol w="1703007">
                  <a:extLst>
                    <a:ext uri="{9D8B030D-6E8A-4147-A177-3AD203B41FA5}">
                      <a16:colId xmlns:a16="http://schemas.microsoft.com/office/drawing/2014/main" val="2550268818"/>
                    </a:ext>
                  </a:extLst>
                </a:gridCol>
                <a:gridCol w="1703007">
                  <a:extLst>
                    <a:ext uri="{9D8B030D-6E8A-4147-A177-3AD203B41FA5}">
                      <a16:colId xmlns:a16="http://schemas.microsoft.com/office/drawing/2014/main" val="2338457459"/>
                    </a:ext>
                  </a:extLst>
                </a:gridCol>
              </a:tblGrid>
              <a:tr h="451652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effectLst/>
                        </a:rPr>
                        <a:t>Tool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effectLst/>
                        </a:rPr>
                        <a:t>Lip Sync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effectLst/>
                        </a:rPr>
                        <a:t>Upload Voice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effectLst/>
                        </a:rPr>
                        <a:t>Add On-Screen Text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effectLst/>
                        </a:rPr>
                        <a:t>Ease of Use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048622469"/>
                  </a:ext>
                </a:extLst>
              </a:tr>
              <a:tr h="451652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effectLst/>
                        </a:rPr>
                        <a:t>D-ID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effectLst/>
                        </a:rPr>
                        <a:t>✅ Yes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effectLst/>
                        </a:rPr>
                        <a:t>✅ Yes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effectLst/>
                        </a:rPr>
                        <a:t>✅ Yes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effectLst/>
                        </a:rPr>
                        <a:t>⭐⭐⭐⭐⭐ Easy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206057646"/>
                  </a:ext>
                </a:extLst>
              </a:tr>
              <a:tr h="451652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effectLst/>
                        </a:rPr>
                        <a:t>HeyGen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effectLst/>
                        </a:rPr>
                        <a:t>✅ Yes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effectLst/>
                        </a:rPr>
                        <a:t>✅ Yes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effectLst/>
                        </a:rPr>
                        <a:t>✅ Yes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effectLst/>
                        </a:rPr>
                        <a:t>⭐⭐⭐⭐☆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526979590"/>
                  </a:ext>
                </a:extLst>
              </a:tr>
              <a:tr h="451652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effectLst/>
                        </a:rPr>
                        <a:t>Synthesia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effectLst/>
                        </a:rPr>
                        <a:t>✅ Yes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effectLst/>
                        </a:rPr>
                        <a:t>✅ Yes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effectLst/>
                        </a:rPr>
                        <a:t>✅ Yes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effectLst/>
                        </a:rPr>
                        <a:t>⭐⭐⭐⭐⭐ Easy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055763912"/>
                  </a:ext>
                </a:extLst>
              </a:tr>
              <a:tr h="451652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effectLst/>
                        </a:rPr>
                        <a:t>Colossyan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effectLst/>
                        </a:rPr>
                        <a:t>✅ Yes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effectLst/>
                        </a:rPr>
                        <a:t>✅ Yes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effectLst/>
                        </a:rPr>
                        <a:t>✅ Yes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 dirty="0">
                          <a:effectLst/>
                        </a:rPr>
                        <a:t>⭐⭐⭐⭐☆</a:t>
                      </a:r>
                      <a:endParaRPr lang="en-US" sz="1000" dirty="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3709100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65483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45CD9-81A5-7ADA-84EE-4EB74A142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Sora Limitations as 0f 2025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E3DDB62-C4EE-749F-6185-466FD8D55D7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4E3109C-F841-A249-A33C-708B7DCDEF14}" type="slidenum">
              <a:rPr lang="en-US" smtClean="0"/>
              <a:t>11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C59304-085E-D630-ADA6-644EFAB18F1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2022 5GIS Sponsor Summit / Nov 8, 2021 / © 2021 AT&amp;T - AT&amp;T Proprietary (Internal Use Only) - Shared under NDA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4D099C-9816-9EAE-8E7B-16864DED48B4}"/>
              </a:ext>
            </a:extLst>
          </p:cNvPr>
          <p:cNvSpPr txBox="1"/>
          <p:nvPr/>
        </p:nvSpPr>
        <p:spPr>
          <a:xfrm>
            <a:off x="611619" y="933780"/>
            <a:ext cx="828258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indent="-285750">
              <a:buFont typeface="Arial" panose="020B0604020202020204" pitchFamily="34" charset="0"/>
              <a:buChar char="•"/>
            </a:pPr>
            <a:r>
              <a:rPr lang="en-US" sz="1400" dirty="0">
                <a:effectLst/>
                <a:latin typeface="Segoe UI Emoji" panose="020B0502040204020203" pitchFamily="34" charset="0"/>
                <a:ea typeface="Aptos" panose="020B0004020202020204" pitchFamily="34" charset="0"/>
                <a:cs typeface="Segoe UI Emoji" panose="020B0502040204020203" pitchFamily="34" charset="0"/>
              </a:rPr>
              <a:t>❌</a:t>
            </a:r>
            <a:r>
              <a:rPr lang="en-US" sz="1400" dirty="0">
                <a:effectLst/>
                <a:latin typeface="Helvetica" panose="020B06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No realistic </a:t>
            </a:r>
            <a:r>
              <a:rPr lang="en-US" sz="1400" b="1" dirty="0">
                <a:effectLst/>
                <a:latin typeface="Helvetica" panose="020B06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facial animation or mouth movement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effectLst/>
                <a:latin typeface="Segoe UI Emoji" panose="020B0502040204020203" pitchFamily="34" charset="0"/>
                <a:ea typeface="Aptos" panose="020B0004020202020204" pitchFamily="34" charset="0"/>
                <a:cs typeface="Segoe UI Emoji" panose="020B0502040204020203" pitchFamily="34" charset="0"/>
              </a:rPr>
              <a:t>❌</a:t>
            </a:r>
            <a:r>
              <a:rPr lang="en-US" sz="1400" dirty="0">
                <a:effectLst/>
                <a:latin typeface="Helvetica" panose="020B06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can’t repeat the same characters in all video segments.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effectLst/>
                <a:latin typeface="Segoe UI Emoji" panose="020B0502040204020203" pitchFamily="34" charset="0"/>
                <a:ea typeface="Aptos" panose="020B0004020202020204" pitchFamily="34" charset="0"/>
                <a:cs typeface="Segoe UI Emoji" panose="020B0502040204020203" pitchFamily="34" charset="0"/>
              </a:rPr>
              <a:t>❌</a:t>
            </a:r>
            <a:r>
              <a:rPr lang="en-US" sz="1400" dirty="0">
                <a:effectLst/>
                <a:latin typeface="Helvetica" panose="020B06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difficult to control character motions..</a:t>
            </a:r>
            <a:endParaRPr lang="en-US" sz="14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285750" marR="0" indent="-285750">
              <a:buFont typeface="Arial" panose="020B0604020202020204" pitchFamily="34" charset="0"/>
              <a:buChar char="•"/>
            </a:pPr>
            <a:r>
              <a:rPr lang="en-US" sz="1400" dirty="0">
                <a:effectLst/>
                <a:latin typeface="Segoe UI Emoji" panose="020B0502040204020203" pitchFamily="34" charset="0"/>
                <a:ea typeface="Aptos" panose="020B0004020202020204" pitchFamily="34" charset="0"/>
                <a:cs typeface="Segoe UI Emoji" panose="020B0502040204020203" pitchFamily="34" charset="0"/>
              </a:rPr>
              <a:t>❌</a:t>
            </a:r>
            <a:r>
              <a:rPr lang="en-US" sz="1400" dirty="0">
                <a:effectLst/>
                <a:latin typeface="Helvetica" panose="020B06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No built-in </a:t>
            </a:r>
            <a:r>
              <a:rPr lang="en-US" sz="1400" b="1" dirty="0">
                <a:effectLst/>
                <a:latin typeface="Helvetica" panose="020B06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talking avatar</a:t>
            </a:r>
            <a:r>
              <a:rPr lang="en-US" sz="1400" dirty="0">
                <a:effectLst/>
                <a:latin typeface="Helvetica" panose="020B06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functionality</a:t>
            </a:r>
            <a:endParaRPr lang="en-US" sz="14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285750" marR="0" indent="-285750">
              <a:buFont typeface="Arial" panose="020B0604020202020204" pitchFamily="34" charset="0"/>
              <a:buChar char="•"/>
            </a:pPr>
            <a:r>
              <a:rPr lang="en-US" sz="1400" dirty="0">
                <a:effectLst/>
                <a:latin typeface="Segoe UI Emoji" panose="020B0502040204020203" pitchFamily="34" charset="0"/>
                <a:ea typeface="Aptos" panose="020B0004020202020204" pitchFamily="34" charset="0"/>
                <a:cs typeface="Segoe UI Emoji" panose="020B0502040204020203" pitchFamily="34" charset="0"/>
              </a:rPr>
              <a:t>❌</a:t>
            </a:r>
            <a:r>
              <a:rPr lang="en-US" sz="1400" dirty="0">
                <a:effectLst/>
                <a:latin typeface="Helvetica" panose="020B06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No support for </a:t>
            </a:r>
            <a:r>
              <a:rPr lang="en-US" sz="1400" b="1" dirty="0">
                <a:effectLst/>
                <a:latin typeface="Helvetica" panose="020B06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audio or narration</a:t>
            </a:r>
            <a:r>
              <a:rPr lang="en-US" sz="1400" dirty="0">
                <a:effectLst/>
                <a:latin typeface="Helvetica" panose="020B06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in video output</a:t>
            </a:r>
            <a:endParaRPr lang="en-US" sz="14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285750" marR="0" indent="-285750">
              <a:buFont typeface="Arial" panose="020B0604020202020204" pitchFamily="34" charset="0"/>
              <a:buChar char="•"/>
            </a:pPr>
            <a:r>
              <a:rPr lang="en-US" sz="1400" dirty="0">
                <a:effectLst/>
                <a:latin typeface="Segoe UI Emoji" panose="020B0502040204020203" pitchFamily="34" charset="0"/>
                <a:ea typeface="Aptos" panose="020B0004020202020204" pitchFamily="34" charset="0"/>
                <a:cs typeface="Segoe UI Emoji" panose="020B0502040204020203" pitchFamily="34" charset="0"/>
              </a:rPr>
              <a:t>✅</a:t>
            </a:r>
            <a:r>
              <a:rPr lang="en-US" sz="1400" dirty="0">
                <a:effectLst/>
                <a:latin typeface="Helvetica" panose="020B06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Only supports </a:t>
            </a:r>
            <a:r>
              <a:rPr lang="en-US" sz="1400" b="1" dirty="0">
                <a:effectLst/>
                <a:latin typeface="Helvetica" panose="020B06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text-to-video</a:t>
            </a:r>
            <a:r>
              <a:rPr lang="en-US" sz="1400" dirty="0">
                <a:effectLst/>
                <a:latin typeface="Helvetica" panose="020B06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visual generation (no speech, no lip animation)</a:t>
            </a:r>
            <a:endParaRPr lang="en-US" sz="14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0" marR="0">
              <a:buNone/>
            </a:pPr>
            <a:r>
              <a:rPr lang="en-US" sz="1800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 </a:t>
            </a:r>
            <a:endParaRPr lang="en-US" sz="18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Aptos" panose="020B0004020202020204" pitchFamily="34" charset="0"/>
            </a:endParaRPr>
          </a:p>
          <a:p>
            <a:pPr marL="0" marR="0"/>
            <a:r>
              <a:rPr lang="en-US" sz="1800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 </a:t>
            </a:r>
            <a:endParaRPr lang="en-US" sz="18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Aptos" panose="020B0004020202020204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3A60FAF-9B2F-2B02-A0F5-B39C24E9C8D4}"/>
              </a:ext>
            </a:extLst>
          </p:cNvPr>
          <p:cNvSpPr txBox="1">
            <a:spLocks/>
          </p:cNvSpPr>
          <p:nvPr/>
        </p:nvSpPr>
        <p:spPr>
          <a:xfrm>
            <a:off x="631265" y="2733732"/>
            <a:ext cx="11510496" cy="65285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2400" b="0" i="0" kern="1200">
                <a:solidFill>
                  <a:schemeClr val="tx1"/>
                </a:solidFill>
                <a:latin typeface="ATT Aleck Sans Medium" panose="020B0503020203020204" pitchFamily="34" charset="0"/>
                <a:ea typeface="+mj-ea"/>
                <a:cs typeface="ATT Aleck Sans Medium" panose="020B0503020203020204" pitchFamily="34" charset="0"/>
              </a:defRPr>
            </a:lvl1pPr>
          </a:lstStyle>
          <a:p>
            <a:r>
              <a:rPr lang="en-US" dirty="0"/>
              <a:t>Suggested Tools to mitigate those limitations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17DCE31-6362-5006-FCD9-E04ADC3EAE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5053744"/>
              </p:ext>
            </p:extLst>
          </p:nvPr>
        </p:nvGraphicFramePr>
        <p:xfrm>
          <a:off x="769065" y="3429000"/>
          <a:ext cx="8762496" cy="125350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381248">
                  <a:extLst>
                    <a:ext uri="{9D8B030D-6E8A-4147-A177-3AD203B41FA5}">
                      <a16:colId xmlns:a16="http://schemas.microsoft.com/office/drawing/2014/main" val="3912362798"/>
                    </a:ext>
                  </a:extLst>
                </a:gridCol>
                <a:gridCol w="4381248">
                  <a:extLst>
                    <a:ext uri="{9D8B030D-6E8A-4147-A177-3AD203B41FA5}">
                      <a16:colId xmlns:a16="http://schemas.microsoft.com/office/drawing/2014/main" val="486235121"/>
                    </a:ext>
                  </a:extLst>
                </a:gridCol>
              </a:tblGrid>
              <a:tr h="208918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dirty="0">
                          <a:effectLst/>
                        </a:rPr>
                        <a:t>Need</a:t>
                      </a:r>
                      <a:endParaRPr lang="en-US" sz="1000" dirty="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effectLst/>
                        </a:rPr>
                        <a:t>Recommended Tool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947360611"/>
                  </a:ext>
                </a:extLst>
              </a:tr>
              <a:tr h="208918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en-US" sz="1000" dirty="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en-US" sz="1000" dirty="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417582084"/>
                  </a:ext>
                </a:extLst>
              </a:tr>
              <a:tr h="208918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effectLst/>
                        </a:rPr>
                        <a:t>Image-to-video with consistency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effectLst/>
                        </a:rPr>
                        <a:t>Runway Gen-2 / Pika Labs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933628972"/>
                  </a:ext>
                </a:extLst>
              </a:tr>
              <a:tr h="208918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effectLst/>
                        </a:rPr>
                        <a:t>Talking avatars w/ lip sync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effectLst/>
                        </a:rPr>
                        <a:t>HeyGen or D-ID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4576772"/>
                  </a:ext>
                </a:extLst>
              </a:tr>
              <a:tr h="208918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effectLst/>
                        </a:rPr>
                        <a:t>3D stylized animations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effectLst/>
                        </a:rPr>
                        <a:t>Kaiber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932566090"/>
                  </a:ext>
                </a:extLst>
              </a:tr>
              <a:tr h="208918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effectLst/>
                        </a:rPr>
                        <a:t>Full narration + face animation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 dirty="0">
                          <a:effectLst/>
                        </a:rPr>
                        <a:t>D-ID or </a:t>
                      </a:r>
                      <a:r>
                        <a:rPr lang="en-US" sz="1200" dirty="0" err="1">
                          <a:effectLst/>
                        </a:rPr>
                        <a:t>HeyGen</a:t>
                      </a:r>
                      <a:endParaRPr lang="en-US" sz="1000" dirty="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0085906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97853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E685A-27DD-F7AC-10B4-60B3B2FB6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Requirements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894583-8671-BCE2-C655-71CBE48917C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4E3109C-F841-A249-A33C-708B7DCDEF14}" type="slidenum">
              <a:rPr lang="en-US" smtClean="0"/>
              <a:t>12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890C8A-711F-E2A0-04BF-85AA31AB882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2022 5GIS Sponsor Summit / Nov 8, 2021 / © 2021 AT&amp;T - AT&amp;T Proprietary (Internal Use Only) - Shared under NDA 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6F690E4-8BF2-ABCF-5423-585EDFFDB0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0704958"/>
              </p:ext>
            </p:extLst>
          </p:nvPr>
        </p:nvGraphicFramePr>
        <p:xfrm>
          <a:off x="847788" y="3379439"/>
          <a:ext cx="9240891" cy="121158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625091">
                  <a:extLst>
                    <a:ext uri="{9D8B030D-6E8A-4147-A177-3AD203B41FA5}">
                      <a16:colId xmlns:a16="http://schemas.microsoft.com/office/drawing/2014/main" val="3912362798"/>
                    </a:ext>
                  </a:extLst>
                </a:gridCol>
                <a:gridCol w="4615800">
                  <a:extLst>
                    <a:ext uri="{9D8B030D-6E8A-4147-A177-3AD203B41FA5}">
                      <a16:colId xmlns:a16="http://schemas.microsoft.com/office/drawing/2014/main" val="486235121"/>
                    </a:ext>
                  </a:extLst>
                </a:gridCol>
              </a:tblGrid>
              <a:tr h="403860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dirty="0">
                          <a:effectLst/>
                        </a:rPr>
                        <a:t>Need</a:t>
                      </a:r>
                      <a:endParaRPr lang="en-US" sz="1000" dirty="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dirty="0">
                          <a:effectLst/>
                        </a:rPr>
                        <a:t>Recommended Tool</a:t>
                      </a:r>
                      <a:endParaRPr lang="en-US" sz="1000" dirty="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947360611"/>
                  </a:ext>
                </a:extLst>
              </a:tr>
              <a:tr h="20193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effectLst/>
                        </a:rPr>
                        <a:t>Image-to-video with consistency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 dirty="0">
                          <a:effectLst/>
                        </a:rPr>
                        <a:t>Runway Gen-2 / Pika Labs</a:t>
                      </a:r>
                      <a:endParaRPr lang="en-US" sz="1000" dirty="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933628972"/>
                  </a:ext>
                </a:extLst>
              </a:tr>
              <a:tr h="20193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effectLst/>
                        </a:rPr>
                        <a:t>Talking avatars w/ lip sync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effectLst/>
                        </a:rPr>
                        <a:t>HeyGen or D-ID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4576772"/>
                  </a:ext>
                </a:extLst>
              </a:tr>
              <a:tr h="20193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effectLst/>
                        </a:rPr>
                        <a:t>3D stylized animations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effectLst/>
                        </a:rPr>
                        <a:t>Kaiber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932566090"/>
                  </a:ext>
                </a:extLst>
              </a:tr>
              <a:tr h="20193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effectLst/>
                        </a:rPr>
                        <a:t>Full narration + face animation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 dirty="0">
                          <a:effectLst/>
                        </a:rPr>
                        <a:t>D-ID or </a:t>
                      </a:r>
                      <a:r>
                        <a:rPr lang="en-US" sz="1200" dirty="0" err="1">
                          <a:effectLst/>
                        </a:rPr>
                        <a:t>HeyGen</a:t>
                      </a:r>
                      <a:endParaRPr lang="en-US" sz="1000" dirty="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00859060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FCA97E3-9DB2-0603-0E20-4E4966CDB2E3}"/>
              </a:ext>
            </a:extLst>
          </p:cNvPr>
          <p:cNvSpPr txBox="1"/>
          <p:nvPr/>
        </p:nvSpPr>
        <p:spPr>
          <a:xfrm>
            <a:off x="611619" y="933780"/>
            <a:ext cx="828258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indent="-285750">
              <a:buFont typeface="Arial" panose="020B0604020202020204" pitchFamily="34" charset="0"/>
              <a:buChar char="•"/>
            </a:pPr>
            <a:r>
              <a:rPr lang="en-US" sz="1400" dirty="0">
                <a:effectLst/>
                <a:latin typeface="Segoe UI Emoji" panose="020B0502040204020203" pitchFamily="34" charset="0"/>
                <a:ea typeface="Aptos" panose="020B0004020202020204" pitchFamily="34" charset="0"/>
                <a:cs typeface="Segoe UI Emoji" panose="020B0502040204020203" pitchFamily="34" charset="0"/>
              </a:rPr>
              <a:t>✅</a:t>
            </a:r>
            <a:r>
              <a:rPr lang="en-US" sz="1400" dirty="0">
                <a:effectLst/>
                <a:latin typeface="Helvetica" panose="020B06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realistic </a:t>
            </a:r>
            <a:r>
              <a:rPr lang="en-US" sz="1400" b="1" dirty="0">
                <a:effectLst/>
                <a:latin typeface="Helvetica" panose="020B06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facial animation or mouth movement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effectLst/>
                <a:latin typeface="Segoe UI Emoji" panose="020B0502040204020203" pitchFamily="34" charset="0"/>
                <a:ea typeface="Aptos" panose="020B0004020202020204" pitchFamily="34" charset="0"/>
                <a:cs typeface="Segoe UI Emoji" panose="020B0502040204020203" pitchFamily="34" charset="0"/>
              </a:rPr>
              <a:t>✅</a:t>
            </a:r>
            <a:r>
              <a:rPr lang="en-US" sz="1400" dirty="0">
                <a:effectLst/>
                <a:latin typeface="Helvetica" panose="020B06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repeat the same characters in all video segments.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effectLst/>
                <a:latin typeface="Segoe UI Emoji" panose="020B0502040204020203" pitchFamily="34" charset="0"/>
                <a:ea typeface="Aptos" panose="020B0004020202020204" pitchFamily="34" charset="0"/>
                <a:cs typeface="Segoe UI Emoji" panose="020B0502040204020203" pitchFamily="34" charset="0"/>
              </a:rPr>
              <a:t>✅</a:t>
            </a:r>
            <a:r>
              <a:rPr lang="en-US" sz="1400" dirty="0">
                <a:effectLst/>
                <a:latin typeface="Helvetica" panose="020B06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</a:t>
            </a:r>
            <a:r>
              <a:rPr lang="en-US" sz="1400" dirty="0">
                <a:latin typeface="Helvetica" panose="020B06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easy </a:t>
            </a:r>
            <a:r>
              <a:rPr lang="en-US" sz="1400" dirty="0">
                <a:effectLst/>
                <a:latin typeface="Helvetica" panose="020B06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to control character motions..</a:t>
            </a:r>
            <a:endParaRPr lang="en-US" sz="14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285750" marR="0" indent="-285750">
              <a:buFont typeface="Arial" panose="020B0604020202020204" pitchFamily="34" charset="0"/>
              <a:buChar char="•"/>
            </a:pPr>
            <a:r>
              <a:rPr lang="en-US" sz="1400" dirty="0">
                <a:effectLst/>
                <a:latin typeface="Segoe UI Emoji" panose="020B0502040204020203" pitchFamily="34" charset="0"/>
                <a:ea typeface="Aptos" panose="020B0004020202020204" pitchFamily="34" charset="0"/>
                <a:cs typeface="Segoe UI Emoji" panose="020B0502040204020203" pitchFamily="34" charset="0"/>
              </a:rPr>
              <a:t>✅</a:t>
            </a:r>
            <a:r>
              <a:rPr lang="en-US" sz="1400" dirty="0">
                <a:effectLst/>
                <a:latin typeface="Helvetica" panose="020B06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 built-in </a:t>
            </a:r>
            <a:r>
              <a:rPr lang="en-US" sz="1400" b="1" dirty="0">
                <a:effectLst/>
                <a:latin typeface="Helvetica" panose="020B06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talking avatar</a:t>
            </a:r>
            <a:r>
              <a:rPr lang="en-US" sz="1400" dirty="0">
                <a:effectLst/>
                <a:latin typeface="Helvetica" panose="020B06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functionality</a:t>
            </a:r>
            <a:endParaRPr lang="en-US" sz="14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285750" marR="0" indent="-285750">
              <a:buFont typeface="Arial" panose="020B0604020202020204" pitchFamily="34" charset="0"/>
              <a:buChar char="•"/>
            </a:pPr>
            <a:r>
              <a:rPr lang="en-US" sz="1400" dirty="0">
                <a:effectLst/>
                <a:latin typeface="Segoe UI Emoji" panose="020B0502040204020203" pitchFamily="34" charset="0"/>
                <a:ea typeface="Aptos" panose="020B0004020202020204" pitchFamily="34" charset="0"/>
                <a:cs typeface="Segoe UI Emoji" panose="020B0502040204020203" pitchFamily="34" charset="0"/>
              </a:rPr>
              <a:t>✅ </a:t>
            </a:r>
            <a:r>
              <a:rPr lang="en-US" sz="1400" dirty="0">
                <a:effectLst/>
                <a:latin typeface="Helvetica" panose="020B06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support for </a:t>
            </a:r>
            <a:r>
              <a:rPr lang="en-US" sz="1400" b="1" dirty="0">
                <a:effectLst/>
                <a:latin typeface="Helvetica" panose="020B06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audio or narration</a:t>
            </a:r>
            <a:r>
              <a:rPr lang="en-US" sz="1400" dirty="0">
                <a:effectLst/>
                <a:latin typeface="Helvetica" panose="020B06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in video output</a:t>
            </a:r>
            <a:endParaRPr lang="en-US" sz="14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285750" marR="0" indent="-285750">
              <a:buFont typeface="Arial" panose="020B0604020202020204" pitchFamily="34" charset="0"/>
              <a:buChar char="•"/>
            </a:pPr>
            <a:r>
              <a:rPr lang="en-US" sz="1400" dirty="0">
                <a:effectLst/>
                <a:latin typeface="Segoe UI Emoji" panose="020B0502040204020203" pitchFamily="34" charset="0"/>
                <a:ea typeface="Aptos" panose="020B0004020202020204" pitchFamily="34" charset="0"/>
                <a:cs typeface="Segoe UI Emoji" panose="020B0502040204020203" pitchFamily="34" charset="0"/>
              </a:rPr>
              <a:t>✅</a:t>
            </a:r>
            <a:r>
              <a:rPr lang="en-US" sz="1400" dirty="0">
                <a:effectLst/>
                <a:latin typeface="Helvetica" panose="020B06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 supports </a:t>
            </a:r>
            <a:r>
              <a:rPr lang="en-US" sz="1400" b="1" dirty="0">
                <a:effectLst/>
                <a:latin typeface="Helvetica" panose="020B06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text-to-video</a:t>
            </a:r>
            <a:r>
              <a:rPr lang="en-US" sz="1400" dirty="0">
                <a:effectLst/>
                <a:latin typeface="Helvetica" panose="020B06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visual generation (no speech, no lip animation)</a:t>
            </a:r>
            <a:endParaRPr lang="en-US" sz="14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0" marR="0">
              <a:buNone/>
            </a:pPr>
            <a:r>
              <a:rPr lang="en-US" sz="1800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 </a:t>
            </a:r>
            <a:endParaRPr lang="en-US" sz="18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Aptos" panose="020B0004020202020204" pitchFamily="34" charset="0"/>
            </a:endParaRPr>
          </a:p>
          <a:p>
            <a:pPr marL="0" marR="0"/>
            <a:r>
              <a:rPr lang="en-US" sz="1800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 </a:t>
            </a:r>
            <a:endParaRPr lang="en-US" sz="18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07334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D6AAD-930C-2AD6-6D29-CF5C5AF56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D-ID tool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139B9E7-C90B-1E7F-F356-81E9AB5908D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4E3109C-F841-A249-A33C-708B7DCDEF14}" type="slidenum">
              <a:rPr lang="en-US" smtClean="0"/>
              <a:t>13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30FBB0-B5F0-A7DA-4F53-EDE7F64A333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2022 5GIS Sponsor Summit / Nov 8, 2021 / © 2021 AT&amp;T - AT&amp;T Proprietary (Internal Use Only) - Shared under NDA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6CCB18-7356-F3A3-11BE-F5D5E8FE75F0}"/>
              </a:ext>
            </a:extLst>
          </p:cNvPr>
          <p:cNvSpPr txBox="1"/>
          <p:nvPr/>
        </p:nvSpPr>
        <p:spPr>
          <a:xfrm>
            <a:off x="254336" y="1355464"/>
            <a:ext cx="11273851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800" dirty="0">
                <a:solidFill>
                  <a:srgbClr val="000000"/>
                </a:solidFill>
                <a:effectLst/>
                <a:latin typeface="Helvetica" panose="020B06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realistic </a:t>
            </a:r>
            <a:r>
              <a:rPr lang="en-US" sz="1800" b="1" dirty="0">
                <a:solidFill>
                  <a:srgbClr val="000000"/>
                </a:solidFill>
                <a:effectLst/>
                <a:latin typeface="Helvetica" panose="020B06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facial animation or mouth movement </a:t>
            </a:r>
            <a:r>
              <a:rPr lang="en-US" sz="1800" b="1" dirty="0">
                <a:solidFill>
                  <a:schemeClr val="accent5">
                    <a:lumMod val="50000"/>
                  </a:schemeClr>
                </a:solidFill>
                <a:effectLst/>
                <a:latin typeface="Helvetica" panose="020B06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YES</a:t>
            </a:r>
            <a:endParaRPr lang="en-US" sz="1600" dirty="0">
              <a:solidFill>
                <a:schemeClr val="accent5">
                  <a:lumMod val="50000"/>
                </a:schemeClr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42900" marR="0" lvl="0" indent="-342900"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800" dirty="0">
                <a:solidFill>
                  <a:srgbClr val="000000"/>
                </a:solidFill>
                <a:effectLst/>
                <a:latin typeface="Helvetica" panose="020B06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repeat the same characters in all video segments. </a:t>
            </a:r>
            <a:r>
              <a:rPr lang="en-US" sz="1800" dirty="0">
                <a:solidFill>
                  <a:schemeClr val="accent5">
                    <a:lumMod val="50000"/>
                  </a:schemeClr>
                </a:solidFill>
                <a:effectLst/>
                <a:latin typeface="Helvetica" panose="020B06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YES</a:t>
            </a:r>
            <a:endParaRPr lang="en-US" sz="1600" dirty="0">
              <a:solidFill>
                <a:schemeClr val="accent5">
                  <a:lumMod val="50000"/>
                </a:schemeClr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42900" marR="0" lvl="0" indent="-342900"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800" dirty="0">
                <a:solidFill>
                  <a:srgbClr val="000000"/>
                </a:solidFill>
                <a:effectLst/>
                <a:latin typeface="Helvetica" panose="020B06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easy to control character motions.. </a:t>
            </a:r>
            <a:r>
              <a:rPr lang="en-US" sz="1800" dirty="0">
                <a:solidFill>
                  <a:srgbClr val="FF0000"/>
                </a:solidFill>
                <a:effectLst/>
                <a:latin typeface="Helvetica" panose="020B06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NO</a:t>
            </a:r>
            <a:endParaRPr lang="en-US" sz="1600" dirty="0">
              <a:solidFill>
                <a:srgbClr val="FF0000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42900" marR="0" lvl="0" indent="-342900"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800" dirty="0">
                <a:solidFill>
                  <a:srgbClr val="000000"/>
                </a:solidFill>
                <a:effectLst/>
                <a:latin typeface="Helvetica" panose="020B06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built-in </a:t>
            </a:r>
            <a:r>
              <a:rPr lang="en-US" sz="1800" b="1" dirty="0">
                <a:solidFill>
                  <a:srgbClr val="000000"/>
                </a:solidFill>
                <a:effectLst/>
                <a:latin typeface="Helvetica" panose="020B06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talking avatar</a:t>
            </a:r>
            <a:r>
              <a:rPr lang="en-US" sz="1800" dirty="0">
                <a:solidFill>
                  <a:srgbClr val="000000"/>
                </a:solidFill>
                <a:effectLst/>
                <a:latin typeface="Helvetica" panose="020B06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 functionality </a:t>
            </a:r>
            <a:r>
              <a:rPr lang="en-US" sz="1800" dirty="0">
                <a:solidFill>
                  <a:schemeClr val="accent5">
                    <a:lumMod val="50000"/>
                  </a:schemeClr>
                </a:solidFill>
                <a:effectLst/>
                <a:latin typeface="Helvetica" panose="020B06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YES</a:t>
            </a:r>
            <a:endParaRPr lang="en-US" sz="1600" dirty="0">
              <a:solidFill>
                <a:schemeClr val="accent5">
                  <a:lumMod val="50000"/>
                </a:schemeClr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42900" marR="0" lvl="0" indent="-342900"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800" dirty="0">
                <a:solidFill>
                  <a:srgbClr val="000000"/>
                </a:solidFill>
                <a:effectLst/>
                <a:latin typeface="Helvetica" panose="020B06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Audio/lip sync </a:t>
            </a:r>
            <a:r>
              <a:rPr lang="en-US" sz="1800" dirty="0">
                <a:solidFill>
                  <a:schemeClr val="accent5">
                    <a:lumMod val="50000"/>
                  </a:schemeClr>
                </a:solidFill>
                <a:effectLst/>
                <a:latin typeface="Helvetica" panose="020B06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YES</a:t>
            </a:r>
            <a:endParaRPr lang="en-US" sz="1600" dirty="0">
              <a:solidFill>
                <a:schemeClr val="accent5">
                  <a:lumMod val="50000"/>
                </a:schemeClr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42900" marR="0" lvl="0" indent="-342900"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800" dirty="0">
                <a:solidFill>
                  <a:srgbClr val="000000"/>
                </a:solidFill>
                <a:effectLst/>
                <a:latin typeface="Helvetica" panose="020B06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Image Input (reference), to keep the characters consistent over multiple video segments </a:t>
            </a:r>
            <a:r>
              <a:rPr lang="en-US" sz="1800" dirty="0">
                <a:solidFill>
                  <a:schemeClr val="accent5">
                    <a:lumMod val="50000"/>
                  </a:schemeClr>
                </a:solidFill>
                <a:effectLst/>
                <a:latin typeface="Helvetica" panose="020B06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YES</a:t>
            </a:r>
            <a:endParaRPr lang="en-US" sz="1600" dirty="0">
              <a:solidFill>
                <a:schemeClr val="accent5">
                  <a:lumMod val="50000"/>
                </a:schemeClr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42900" marR="0" lvl="0" indent="-342900"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800" dirty="0">
                <a:solidFill>
                  <a:srgbClr val="000000"/>
                </a:solidFill>
                <a:effectLst/>
                <a:latin typeface="Helvetica" panose="020B06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support for </a:t>
            </a:r>
            <a:r>
              <a:rPr lang="en-US" sz="1800" b="1" dirty="0">
                <a:solidFill>
                  <a:srgbClr val="000000"/>
                </a:solidFill>
                <a:effectLst/>
                <a:latin typeface="Helvetica" panose="020B06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audio or narration</a:t>
            </a:r>
            <a:r>
              <a:rPr lang="en-US" sz="1800" dirty="0">
                <a:solidFill>
                  <a:srgbClr val="000000"/>
                </a:solidFill>
                <a:effectLst/>
                <a:latin typeface="Helvetica" panose="020B06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 in video output </a:t>
            </a:r>
            <a:r>
              <a:rPr lang="en-US" sz="1800" dirty="0">
                <a:solidFill>
                  <a:schemeClr val="accent5">
                    <a:lumMod val="50000"/>
                  </a:schemeClr>
                </a:solidFill>
                <a:effectLst/>
                <a:latin typeface="Helvetica" panose="020B06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YES</a:t>
            </a:r>
            <a:endParaRPr lang="en-US" sz="1600" dirty="0">
              <a:solidFill>
                <a:schemeClr val="accent5">
                  <a:lumMod val="50000"/>
                </a:schemeClr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6F23496-C4B1-E212-C9BE-AE6672907B48}"/>
              </a:ext>
            </a:extLst>
          </p:cNvPr>
          <p:cNvSpPr txBox="1"/>
          <p:nvPr/>
        </p:nvSpPr>
        <p:spPr>
          <a:xfrm>
            <a:off x="965055" y="4150259"/>
            <a:ext cx="609686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US" sz="1800" b="1" u="sng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CONTACT: </a:t>
            </a:r>
          </a:p>
          <a:p>
            <a:pPr marL="0" marR="0">
              <a:buNone/>
            </a:pP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Joe Murphy</a:t>
            </a:r>
          </a:p>
          <a:p>
            <a:pPr marL="0" marR="0">
              <a:buNone/>
            </a:pP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Strategic Account Executive</a:t>
            </a:r>
          </a:p>
          <a:p>
            <a:pPr marL="0" marR="0">
              <a:buNone/>
            </a:pPr>
            <a:r>
              <a:rPr lang="en-US" sz="1800" u="sng" dirty="0">
                <a:solidFill>
                  <a:srgbClr val="0000FF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hlinkClick r:id="rId2"/>
              </a:rPr>
              <a:t>Book a Meeting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| </a:t>
            </a:r>
            <a:r>
              <a:rPr lang="en-US" sz="1800" u="sng" dirty="0">
                <a:solidFill>
                  <a:srgbClr val="0000FF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hlinkClick r:id="rId3"/>
              </a:rPr>
              <a:t>Meet AI Amber</a:t>
            </a:r>
            <a:endParaRPr lang="en-US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0" marR="0">
              <a:buNone/>
            </a:pP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San Francisco, CA</a:t>
            </a:r>
          </a:p>
          <a:p>
            <a:pPr marL="0" marR="0"/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+1.425.736.6563</a:t>
            </a:r>
          </a:p>
        </p:txBody>
      </p:sp>
    </p:spTree>
    <p:extLst>
      <p:ext uri="{BB962C8B-B14F-4D97-AF65-F5344CB8AC3E}">
        <p14:creationId xmlns:p14="http://schemas.microsoft.com/office/powerpoint/2010/main" val="5575175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F1312-F90A-9AFA-62F2-EFADDAEFF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558" y="280928"/>
            <a:ext cx="11669925" cy="597138"/>
          </a:xfrm>
        </p:spPr>
        <p:txBody>
          <a:bodyPr/>
          <a:lstStyle/>
          <a:p>
            <a:r>
              <a:rPr lang="en-US" dirty="0"/>
              <a:t>Minutes 060425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9555AC7-2C47-DC06-B023-795AB3ACA6E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4E3109C-F841-A249-A33C-708B7DCDEF14}" type="slidenum">
              <a:rPr lang="en-US" smtClean="0"/>
              <a:t>14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28AC80-0AA7-96F6-9873-BDAEF88054B0}"/>
              </a:ext>
            </a:extLst>
          </p:cNvPr>
          <p:cNvSpPr txBox="1"/>
          <p:nvPr/>
        </p:nvSpPr>
        <p:spPr>
          <a:xfrm>
            <a:off x="1526165" y="1647627"/>
            <a:ext cx="6096866" cy="3770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US" sz="3200" b="1" dirty="0">
                <a:effectLst/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🔹</a:t>
            </a:r>
            <a:r>
              <a:rPr lang="en-US" sz="3200" b="1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 </a:t>
            </a:r>
            <a:r>
              <a:rPr lang="en-US" sz="1600" b="1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Summary of Discussion</a:t>
            </a:r>
            <a:endParaRPr lang="en-US" sz="1600" b="1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0" marR="0">
              <a:buNone/>
            </a:pPr>
            <a:r>
              <a:rPr lang="en-US" sz="1400" b="1" dirty="0">
                <a:effectLst/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🎬</a:t>
            </a:r>
            <a:r>
              <a:rPr lang="en-US" sz="1400" b="1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 AI Video Creation with GenAI Tools</a:t>
            </a:r>
            <a:endParaRPr lang="en-US" sz="1400" b="1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050" b="1" dirty="0">
                <a:effectLst/>
                <a:latin typeface="Helvetica" panose="020B0604020202020204" pitchFamily="34" charset="0"/>
              </a:rPr>
              <a:t>Michael</a:t>
            </a:r>
            <a:r>
              <a:rPr lang="en-US" sz="1050" dirty="0">
                <a:effectLst/>
                <a:latin typeface="Helvetica" panose="020B0604020202020204" pitchFamily="34" charset="0"/>
              </a:rPr>
              <a:t> described the problem with traditional media production: long delays due to multiple layers (ticketing, producers, animators, editors).</a:t>
            </a:r>
            <a:endParaRPr lang="en-US" sz="1050" dirty="0">
              <a:effectLst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050" b="1" dirty="0">
                <a:effectLst/>
                <a:latin typeface="Helvetica" panose="020B0604020202020204" pitchFamily="34" charset="0"/>
              </a:rPr>
              <a:t>Media Productions team</a:t>
            </a:r>
            <a:r>
              <a:rPr lang="en-US" sz="1050" dirty="0">
                <a:effectLst/>
                <a:latin typeface="Helvetica" panose="020B0604020202020204" pitchFamily="34" charset="0"/>
              </a:rPr>
              <a:t> is also exploring Generative AI to streamline short video production (5s–30s).</a:t>
            </a:r>
            <a:endParaRPr lang="en-US" sz="1050" dirty="0">
              <a:effectLst/>
            </a:endParaRPr>
          </a:p>
          <a:p>
            <a:pPr marL="0" marR="0">
              <a:buNone/>
            </a:pPr>
            <a:r>
              <a:rPr lang="en-US" sz="1400" b="1" dirty="0">
                <a:effectLst/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🧑‍💻</a:t>
            </a:r>
            <a:r>
              <a:rPr lang="en-US" sz="1400" b="1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 Account Setup and Subscription</a:t>
            </a:r>
            <a:endParaRPr lang="en-US" sz="1400" b="1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050" dirty="0">
                <a:effectLst/>
                <a:latin typeface="Helvetica" panose="020B0604020202020204" pitchFamily="34" charset="0"/>
              </a:rPr>
              <a:t>Team will </a:t>
            </a:r>
            <a:r>
              <a:rPr lang="en-US" sz="1050" b="1" dirty="0">
                <a:effectLst/>
                <a:latin typeface="Helvetica" panose="020B0604020202020204" pitchFamily="34" charset="0"/>
              </a:rPr>
              <a:t>create a shared Google account</a:t>
            </a:r>
            <a:r>
              <a:rPr lang="en-US" sz="1050" dirty="0">
                <a:effectLst/>
                <a:latin typeface="Helvetica" panose="020B0604020202020204" pitchFamily="34" charset="0"/>
              </a:rPr>
              <a:t> to access tools like </a:t>
            </a:r>
            <a:r>
              <a:rPr lang="en-US" sz="1050" b="1" dirty="0">
                <a:effectLst/>
                <a:latin typeface="Helvetica" panose="020B0604020202020204" pitchFamily="34" charset="0"/>
              </a:rPr>
              <a:t>Google Veo</a:t>
            </a:r>
            <a:r>
              <a:rPr lang="en-US" sz="1050" dirty="0">
                <a:effectLst/>
                <a:latin typeface="Helvetica" panose="020B0604020202020204" pitchFamily="34" charset="0"/>
              </a:rPr>
              <a:t>.</a:t>
            </a:r>
            <a:endParaRPr lang="en-US" sz="1050" dirty="0">
              <a:effectLst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050" b="1" dirty="0">
                <a:effectLst/>
                <a:latin typeface="Helvetica" panose="020B0604020202020204" pitchFamily="34" charset="0"/>
              </a:rPr>
              <a:t>Michael</a:t>
            </a:r>
            <a:r>
              <a:rPr lang="en-US" sz="1050" dirty="0">
                <a:effectLst/>
                <a:latin typeface="Helvetica" panose="020B0604020202020204" pitchFamily="34" charset="0"/>
              </a:rPr>
              <a:t> will pay for the subscription using a </a:t>
            </a:r>
            <a:r>
              <a:rPr lang="en-US" sz="1050" b="1" dirty="0">
                <a:effectLst/>
                <a:latin typeface="Helvetica" panose="020B0604020202020204" pitchFamily="34" charset="0"/>
              </a:rPr>
              <a:t>credit card</a:t>
            </a:r>
            <a:r>
              <a:rPr lang="en-US" sz="1050" dirty="0">
                <a:effectLst/>
                <a:latin typeface="Helvetica" panose="020B0604020202020204" pitchFamily="34" charset="0"/>
              </a:rPr>
              <a:t>.</a:t>
            </a:r>
            <a:endParaRPr lang="en-US" sz="1050" dirty="0">
              <a:effectLst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050" b="1" dirty="0">
                <a:effectLst/>
                <a:latin typeface="Helvetica" panose="020B0604020202020204" pitchFamily="34" charset="0"/>
              </a:rPr>
              <a:t>Austin</a:t>
            </a:r>
            <a:r>
              <a:rPr lang="en-US" sz="1050" dirty="0">
                <a:effectLst/>
                <a:latin typeface="Helvetica" panose="020B0604020202020204" pitchFamily="34" charset="0"/>
              </a:rPr>
              <a:t> will assist in setting up the account and accessing the tool.</a:t>
            </a:r>
            <a:endParaRPr lang="en-US" sz="1050" dirty="0">
              <a:effectLst/>
            </a:endParaRPr>
          </a:p>
          <a:p>
            <a:pPr marL="0" marR="0">
              <a:buNone/>
            </a:pPr>
            <a:r>
              <a:rPr lang="en-US" sz="1400" b="1" dirty="0">
                <a:effectLst/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📦</a:t>
            </a:r>
            <a:r>
              <a:rPr lang="en-US" sz="1400" b="1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 Plans and Usage</a:t>
            </a:r>
            <a:endParaRPr lang="en-US" sz="1400" b="1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050" dirty="0">
                <a:effectLst/>
                <a:latin typeface="Helvetica" panose="020B0604020202020204" pitchFamily="34" charset="0"/>
              </a:rPr>
              <a:t>Team is unsure about </a:t>
            </a:r>
            <a:r>
              <a:rPr lang="en-US" sz="1050" b="1" dirty="0">
                <a:effectLst/>
                <a:latin typeface="Helvetica" panose="020B0604020202020204" pitchFamily="34" charset="0"/>
              </a:rPr>
              <a:t>Ultra plan limitations</a:t>
            </a:r>
            <a:r>
              <a:rPr lang="en-US" sz="1050" dirty="0">
                <a:effectLst/>
                <a:latin typeface="Helvetica" panose="020B0604020202020204" pitchFamily="34" charset="0"/>
              </a:rPr>
              <a:t> (e.g., number of video generations per month) — to be verified.</a:t>
            </a:r>
            <a:endParaRPr lang="en-US" sz="1050" dirty="0">
              <a:effectLst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050" dirty="0">
                <a:effectLst/>
                <a:latin typeface="Helvetica" panose="020B0604020202020204" pitchFamily="34" charset="0"/>
              </a:rPr>
              <a:t>The goal is to use the tool efficiently to reduce turnaround time on small video assets.</a:t>
            </a:r>
            <a:endParaRPr lang="en-US" sz="1050" dirty="0">
              <a:effectLst/>
            </a:endParaRPr>
          </a:p>
          <a:p>
            <a:pPr marL="0" marR="0">
              <a:buNone/>
            </a:pPr>
            <a:r>
              <a:rPr lang="en-US" sz="1400" b="1" dirty="0">
                <a:effectLst/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🛠</a:t>
            </a:r>
            <a:r>
              <a:rPr lang="en-US" sz="1400" b="1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 Next Steps</a:t>
            </a:r>
            <a:endParaRPr lang="en-US" sz="1400" b="1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050" b="1" dirty="0">
                <a:effectLst/>
                <a:latin typeface="Helvetica" panose="020B0604020202020204" pitchFamily="34" charset="0"/>
              </a:rPr>
              <a:t>Michael</a:t>
            </a:r>
            <a:r>
              <a:rPr lang="en-US" sz="1050" dirty="0">
                <a:effectLst/>
                <a:latin typeface="Helvetica" panose="020B0604020202020204" pitchFamily="34" charset="0"/>
              </a:rPr>
              <a:t> to create the account and send login credentials.</a:t>
            </a:r>
            <a:endParaRPr lang="en-US" sz="1050" dirty="0">
              <a:effectLst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050" b="1" dirty="0">
                <a:effectLst/>
                <a:latin typeface="Helvetica" panose="020B0604020202020204" pitchFamily="34" charset="0"/>
              </a:rPr>
              <a:t>Mohamed</a:t>
            </a:r>
            <a:r>
              <a:rPr lang="en-US" sz="1050" dirty="0">
                <a:effectLst/>
                <a:latin typeface="Helvetica" panose="020B0604020202020204" pitchFamily="34" charset="0"/>
              </a:rPr>
              <a:t> will update slides with feedback from sales on the tools.</a:t>
            </a:r>
            <a:endParaRPr lang="en-US" sz="1050" dirty="0">
              <a:effectLst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050" b="1" dirty="0">
                <a:effectLst/>
                <a:latin typeface="Helvetica" panose="020B0604020202020204" pitchFamily="34" charset="0"/>
              </a:rPr>
              <a:t>No further meeting needed</a:t>
            </a:r>
            <a:r>
              <a:rPr lang="en-US" sz="1050" dirty="0">
                <a:effectLst/>
                <a:latin typeface="Helvetica" panose="020B0604020202020204" pitchFamily="34" charset="0"/>
              </a:rPr>
              <a:t> for now; updates will be shared over Microsoft Teams.</a:t>
            </a:r>
            <a:endParaRPr lang="en-US" sz="1050" dirty="0">
              <a:effectLst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050" b="1" dirty="0">
                <a:effectLst/>
                <a:latin typeface="Helvetica" panose="020B0604020202020204" pitchFamily="34" charset="0"/>
              </a:rPr>
              <a:t>Michael</a:t>
            </a:r>
            <a:r>
              <a:rPr lang="en-US" sz="1050" dirty="0">
                <a:effectLst/>
                <a:latin typeface="Helvetica" panose="020B0604020202020204" pitchFamily="34" charset="0"/>
              </a:rPr>
              <a:t> will also look into the platform features and follow up as needed.</a:t>
            </a:r>
            <a:endParaRPr lang="en-US" sz="105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5846044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EEE7517-D4E6-D2E4-1B8C-63C4D146CBD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4E3109C-F841-A249-A33C-708B7DCDEF14}" type="slidenum">
              <a:rPr lang="en-US" smtClean="0"/>
              <a:t>15</a:t>
            </a:fld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D7E4967-AE8E-1369-A7FC-AB9BDFAF8C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0622098"/>
              </p:ext>
            </p:extLst>
          </p:nvPr>
        </p:nvGraphicFramePr>
        <p:xfrm>
          <a:off x="384406" y="1699912"/>
          <a:ext cx="9522604" cy="20193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761302">
                  <a:extLst>
                    <a:ext uri="{9D8B030D-6E8A-4147-A177-3AD203B41FA5}">
                      <a16:colId xmlns:a16="http://schemas.microsoft.com/office/drawing/2014/main" val="769338034"/>
                    </a:ext>
                  </a:extLst>
                </a:gridCol>
                <a:gridCol w="4761302">
                  <a:extLst>
                    <a:ext uri="{9D8B030D-6E8A-4147-A177-3AD203B41FA5}">
                      <a16:colId xmlns:a16="http://schemas.microsoft.com/office/drawing/2014/main" val="1259755608"/>
                    </a:ext>
                  </a:extLst>
                </a:gridCol>
              </a:tblGrid>
              <a:tr h="201930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dirty="0">
                          <a:effectLst/>
                        </a:rPr>
                        <a:t>Plan Name</a:t>
                      </a:r>
                      <a:endParaRPr lang="en-US" sz="1000" dirty="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effectLst/>
                        </a:rPr>
                        <a:t>Veo 3 Ultra (Google AI Premium)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288022357"/>
                  </a:ext>
                </a:extLst>
              </a:tr>
              <a:tr h="20193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effectLst/>
                        </a:rPr>
                        <a:t>Monthly Price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effectLst/>
                        </a:rPr>
                        <a:t>$249.99 USD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602297530"/>
                  </a:ext>
                </a:extLst>
              </a:tr>
              <a:tr h="20193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effectLst/>
                        </a:rPr>
                        <a:t>Included Credits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effectLst/>
                        </a:rPr>
                        <a:t>12,500 AI credits per month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46639999"/>
                  </a:ext>
                </a:extLst>
              </a:tr>
              <a:tr h="20193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effectLst/>
                        </a:rPr>
                        <a:t>Clip Duration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effectLst/>
                        </a:rPr>
                        <a:t>Each video clip is 8 seconds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862017038"/>
                  </a:ext>
                </a:extLst>
              </a:tr>
              <a:tr h="20193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effectLst/>
                        </a:rPr>
                        <a:t>Clip Cost (Fast mode)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 dirty="0">
                          <a:effectLst/>
                        </a:rPr>
                        <a:t>20 credits/clip → 625 clips/month  </a:t>
                      </a:r>
                      <a:r>
                        <a:rPr lang="en-US" sz="1200" dirty="0">
                          <a:solidFill>
                            <a:srgbClr val="FF0000"/>
                          </a:solidFill>
                          <a:effectLst/>
                        </a:rPr>
                        <a:t>$.4/clip</a:t>
                      </a:r>
                      <a:endParaRPr lang="en-US" sz="10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496339375"/>
                  </a:ext>
                </a:extLst>
              </a:tr>
              <a:tr h="20193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effectLst/>
                        </a:rPr>
                        <a:t>Clip Cost (Quality mode)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 dirty="0">
                          <a:effectLst/>
                        </a:rPr>
                        <a:t>100 credits/clip → 125 clips/month,  </a:t>
                      </a:r>
                      <a:r>
                        <a:rPr lang="en-US" sz="1200" dirty="0">
                          <a:solidFill>
                            <a:srgbClr val="FF0000"/>
                          </a:solidFill>
                          <a:effectLst/>
                        </a:rPr>
                        <a:t>$2/clip</a:t>
                      </a:r>
                      <a:endParaRPr lang="en-US" sz="10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957277904"/>
                  </a:ext>
                </a:extLst>
              </a:tr>
              <a:tr h="20193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effectLst/>
                        </a:rPr>
                        <a:t>Resolution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effectLst/>
                        </a:rPr>
                        <a:t>Fast = 720p, Quality = 1080p+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083002554"/>
                  </a:ext>
                </a:extLst>
              </a:tr>
              <a:tr h="20193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effectLst/>
                        </a:rPr>
                        <a:t>Voice &amp; lip sync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effectLst/>
                        </a:rPr>
                        <a:t>Limited (experimental support in Fast mode)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8460715"/>
                  </a:ext>
                </a:extLst>
              </a:tr>
              <a:tr h="20193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effectLst/>
                        </a:rPr>
                        <a:t>Character consistency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effectLst/>
                        </a:rPr>
                        <a:t>No persistent avatar memory across clips yet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177738235"/>
                  </a:ext>
                </a:extLst>
              </a:tr>
              <a:tr h="20193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effectLst/>
                        </a:rPr>
                        <a:t>Languages</a:t>
                      </a:r>
                      <a:endParaRPr lang="en-US" sz="10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 dirty="0">
                          <a:effectLst/>
                        </a:rPr>
                        <a:t>English fully supported; other languages vary</a:t>
                      </a:r>
                      <a:endParaRPr lang="en-US" sz="1000" dirty="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178306111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E7210F16-B6E3-1C6B-C90D-71C91C873F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4406" y="1699119"/>
            <a:ext cx="1008183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A5A9864-E937-EA69-8102-1247CF53C568}"/>
              </a:ext>
            </a:extLst>
          </p:cNvPr>
          <p:cNvSpPr txBox="1">
            <a:spLocks/>
          </p:cNvSpPr>
          <p:nvPr/>
        </p:nvSpPr>
        <p:spPr>
          <a:xfrm>
            <a:off x="169558" y="280928"/>
            <a:ext cx="11669925" cy="597138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2400" b="0" i="0" kern="1200">
                <a:solidFill>
                  <a:schemeClr val="tx1"/>
                </a:solidFill>
                <a:latin typeface="ATT Aleck Sans Medium" panose="020B0503020203020204" pitchFamily="34" charset="0"/>
                <a:ea typeface="+mj-ea"/>
                <a:cs typeface="ATT Aleck Sans Medium" panose="020B0503020203020204" pitchFamily="34" charset="0"/>
              </a:defRPr>
            </a:lvl1pPr>
          </a:lstStyle>
          <a:p>
            <a:r>
              <a:rPr lang="en-US" dirty="0"/>
              <a:t>Veo3 </a:t>
            </a:r>
            <a:r>
              <a:rPr lang="en-US"/>
              <a:t>cost structure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67139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2C3E94-8FCD-28F1-DEAA-1E9C81EE4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Female Template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305DAC0-7F8C-F094-6CAA-F4D4AFE7E6C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4E3109C-F841-A249-A33C-708B7DCDEF14}" type="slidenum">
              <a:rPr lang="en-US" smtClean="0"/>
              <a:t>16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836BFD-351F-EC62-5DA5-3EA44F74DD9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2022 5GIS Sponsor Summit / Nov 8, 2021 / © 2021 AT&amp;T - AT&amp;T Proprietary (Internal Use Only) - Shared under NDA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0D4E882-717D-D4E5-C158-B92B4759ACFB}"/>
              </a:ext>
            </a:extLst>
          </p:cNvPr>
          <p:cNvSpPr txBox="1"/>
          <p:nvPr/>
        </p:nvSpPr>
        <p:spPr>
          <a:xfrm>
            <a:off x="-10756" y="1179833"/>
            <a:ext cx="6805171" cy="43836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ts val="900"/>
              </a:lnSpc>
              <a:spcAft>
                <a:spcPts val="800"/>
              </a:spcAft>
              <a:buNone/>
            </a:pPr>
            <a:r>
              <a:rPr lang="en-US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Female Presenter Description</a:t>
            </a:r>
            <a:endParaRPr lang="en-US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ts val="9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Ethnic Background</a:t>
            </a: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Caucasian – from </a:t>
            </a:r>
            <a:r>
              <a:rPr lang="en-US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Europe or the United States</a:t>
            </a:r>
            <a:endParaRPr lang="en-US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ts val="9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Age</a:t>
            </a: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35</a:t>
            </a:r>
          </a:p>
          <a:p>
            <a:pPr marL="800100" lvl="1" indent="-342900">
              <a:lnSpc>
                <a:spcPts val="9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Hair</a:t>
            </a: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Blonde, shoulder-length, either straight or with soft waves</a:t>
            </a:r>
          </a:p>
          <a:p>
            <a:pPr marL="800100" lvl="1" indent="-342900">
              <a:lnSpc>
                <a:spcPts val="9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Face</a:t>
            </a: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Oval face, clear skin, no facial hair, light natural makeup</a:t>
            </a:r>
          </a:p>
          <a:p>
            <a:pPr marL="800100" lvl="1" indent="-342900">
              <a:lnSpc>
                <a:spcPts val="9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Eyes</a:t>
            </a: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Blue or green (optional visual cue)</a:t>
            </a:r>
          </a:p>
          <a:p>
            <a:pPr marL="800100" lvl="1" indent="-342900">
              <a:lnSpc>
                <a:spcPts val="9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Expression</a:t>
            </a: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Calm, confident, friendly</a:t>
            </a:r>
          </a:p>
          <a:p>
            <a:pPr marL="800100" lvl="1" indent="-342900">
              <a:lnSpc>
                <a:spcPts val="9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Clothing</a:t>
            </a: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</a:p>
          <a:p>
            <a:pPr marL="1200150" lvl="2" indent="-285750">
              <a:lnSpc>
                <a:spcPts val="9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White blouse</a:t>
            </a:r>
          </a:p>
          <a:p>
            <a:pPr marL="1200150" lvl="2" indent="-285750">
              <a:lnSpc>
                <a:spcPts val="9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Navy blue blazer</a:t>
            </a:r>
          </a:p>
          <a:p>
            <a:pPr marL="1200150" lvl="2" indent="-285750">
              <a:lnSpc>
                <a:spcPts val="9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Skirt above the knee</a:t>
            </a: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(professional length)</a:t>
            </a:r>
          </a:p>
          <a:p>
            <a:pPr marL="1200150" lvl="2" indent="-285750">
              <a:lnSpc>
                <a:spcPts val="9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Black formal shoes (heels or flats)</a:t>
            </a:r>
          </a:p>
          <a:p>
            <a:pPr marL="800100" lvl="1" indent="-342900">
              <a:lnSpc>
                <a:spcPts val="9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Posture</a:t>
            </a: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Upright and confident, hands relaxed or lightly gesturing</a:t>
            </a:r>
          </a:p>
          <a:p>
            <a:pPr marL="0" marR="0">
              <a:lnSpc>
                <a:spcPts val="900"/>
              </a:lnSpc>
              <a:spcAft>
                <a:spcPts val="800"/>
              </a:spcAft>
              <a:buNone/>
            </a:pPr>
            <a:r>
              <a:rPr lang="en-US" sz="1400" b="1" kern="100" dirty="0">
                <a:effectLst/>
                <a:latin typeface="Segoe UI Emoji" panose="020B0502040204020203" pitchFamily="34" charset="0"/>
                <a:ea typeface="Aptos" panose="020B0004020202020204" pitchFamily="34" charset="0"/>
                <a:cs typeface="Segoe UI Emoji" panose="020B0502040204020203" pitchFamily="34" charset="0"/>
              </a:rPr>
              <a:t>🔹</a:t>
            </a:r>
            <a:r>
              <a:rPr lang="en-US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Dialogue (Spoken Line)</a:t>
            </a:r>
            <a:endParaRPr lang="en-US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ts val="900"/>
              </a:lnSpc>
              <a:spcAft>
                <a:spcPts val="800"/>
              </a:spcAft>
            </a:pPr>
            <a:r>
              <a:rPr lang="en-US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SAY</a:t>
            </a: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</a:p>
          <a:p>
            <a:pPr lvl="1">
              <a:lnSpc>
                <a:spcPts val="900"/>
              </a:lnSpc>
              <a:spcAft>
                <a:spcPts val="800"/>
              </a:spcAft>
            </a:pPr>
            <a:r>
              <a:rPr lang="en-US" sz="1400" i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"Hello, this is an AT&amp;T new product."</a:t>
            </a:r>
            <a:endParaRPr lang="en-US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ts val="9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Tone: Friendly, professional, and engaging</a:t>
            </a:r>
          </a:p>
          <a:p>
            <a:pPr marL="800100" lvl="1" indent="-342900">
              <a:lnSpc>
                <a:spcPts val="9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Accent: American or European English</a:t>
            </a:r>
          </a:p>
          <a:p>
            <a:pPr marL="800100" lvl="1" indent="-342900">
              <a:lnSpc>
                <a:spcPts val="9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 mouth should </a:t>
            </a:r>
            <a:r>
              <a:rPr lang="en-US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visibly move</a:t>
            </a: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in sync with the spoken phrase (lip movement)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3F6B33E-54B0-D975-598B-9DE5B9D4A9D6}"/>
              </a:ext>
            </a:extLst>
          </p:cNvPr>
          <p:cNvSpPr txBox="1"/>
          <p:nvPr/>
        </p:nvSpPr>
        <p:spPr>
          <a:xfrm>
            <a:off x="6540079" y="1041638"/>
            <a:ext cx="5299404" cy="22617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400" b="1" kern="100" dirty="0">
                <a:effectLst/>
                <a:latin typeface="Segoe UI Emoji" panose="020B0502040204020203" pitchFamily="34" charset="0"/>
                <a:ea typeface="Aptos" panose="020B0004020202020204" pitchFamily="34" charset="0"/>
                <a:cs typeface="Segoe UI Emoji" panose="020B0502040204020203" pitchFamily="34" charset="0"/>
              </a:rPr>
              <a:t>🔹</a:t>
            </a:r>
            <a:r>
              <a:rPr lang="en-US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Prompt for AI Video Tools (e.g., Veo 3 / Runway)</a:t>
            </a:r>
            <a:endParaRPr lang="en-US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“A </a:t>
            </a:r>
            <a:r>
              <a:rPr lang="en-US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35-year-old professional Caucasian female presenter from Europe or the US</a:t>
            </a: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stands in a corporate setting with the </a:t>
            </a:r>
            <a:r>
              <a:rPr lang="en-US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AT&amp;T logo</a:t>
            </a: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behind her. She has </a:t>
            </a:r>
            <a:r>
              <a:rPr lang="en-US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blonde shoulder-length hair</a:t>
            </a: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wears a </a:t>
            </a:r>
            <a:r>
              <a:rPr lang="en-US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white blouse</a:t>
            </a: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navy blazer</a:t>
            </a: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and a </a:t>
            </a:r>
            <a:r>
              <a:rPr lang="en-US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knee-length skirt</a:t>
            </a: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with black shoes. She is shown </a:t>
            </a:r>
            <a:r>
              <a:rPr lang="en-US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entirely from head to foot</a:t>
            </a: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standing in a </a:t>
            </a:r>
            <a:r>
              <a:rPr lang="en-US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static full-body frame</a:t>
            </a: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throughout. She </a:t>
            </a:r>
            <a:r>
              <a:rPr lang="en-US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says: 'Hello, this is an AT&amp;T new product'</a:t>
            </a: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with </a:t>
            </a:r>
            <a:r>
              <a:rPr lang="en-US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visible lip movement</a:t>
            </a: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The scene is well-lit, static, and professional.”</a:t>
            </a:r>
          </a:p>
        </p:txBody>
      </p:sp>
    </p:spTree>
    <p:extLst>
      <p:ext uri="{BB962C8B-B14F-4D97-AF65-F5344CB8AC3E}">
        <p14:creationId xmlns:p14="http://schemas.microsoft.com/office/powerpoint/2010/main" val="10129953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F8FA6-0013-8842-940E-ABD321B61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565" y="96564"/>
            <a:ext cx="11510496" cy="652852"/>
          </a:xfrm>
        </p:spPr>
        <p:txBody>
          <a:bodyPr/>
          <a:lstStyle/>
          <a:p>
            <a:r>
              <a:rPr lang="en-US" dirty="0"/>
              <a:t>Male Template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092E732-DF5E-AB9A-36F8-F587BC4F14A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4E3109C-F841-A249-A33C-708B7DCDEF14}" type="slidenum">
              <a:rPr lang="en-US" smtClean="0"/>
              <a:t>17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BE4257-AE93-9A47-51FA-C927E8ADF20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2022 5GIS Sponsor Summit / Nov 8, 2021 / © 2021 AT&amp;T - AT&amp;T Proprietary (Internal Use Only) - Shared under NDA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5198AD9-7F88-2744-06E9-AB65C22761ED}"/>
              </a:ext>
            </a:extLst>
          </p:cNvPr>
          <p:cNvSpPr txBox="1"/>
          <p:nvPr/>
        </p:nvSpPr>
        <p:spPr>
          <a:xfrm>
            <a:off x="291523" y="786879"/>
            <a:ext cx="7635296" cy="538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ts val="600"/>
              </a:lnSpc>
              <a:spcAft>
                <a:spcPts val="800"/>
              </a:spcAft>
              <a:buNone/>
            </a:pPr>
            <a:r>
              <a:rPr lang="en-US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Male AT&amp;T Product Presenter Script (GenAI Video)</a:t>
            </a:r>
            <a:endParaRPr lang="en-US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ts val="600"/>
              </a:lnSpc>
              <a:spcAft>
                <a:spcPts val="800"/>
              </a:spcAft>
              <a:buNone/>
            </a:pP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 sz="1400" b="1" kern="100" dirty="0">
                <a:effectLst/>
                <a:latin typeface="Segoe UI Emoji" panose="020B0502040204020203" pitchFamily="34" charset="0"/>
                <a:ea typeface="Aptos" panose="020B0004020202020204" pitchFamily="34" charset="0"/>
                <a:cs typeface="Segoe UI Emoji" panose="020B0502040204020203" pitchFamily="34" charset="0"/>
              </a:rPr>
              <a:t>🔹</a:t>
            </a:r>
            <a:r>
              <a:rPr lang="en-US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Camera Instructions</a:t>
            </a:r>
            <a:endParaRPr lang="en-US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628650" lvl="1" indent="-171450">
              <a:lnSpc>
                <a:spcPts val="6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Full-body frame from head to toe</a:t>
            </a:r>
            <a:endParaRPr lang="en-US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628650" lvl="1" indent="-171450">
              <a:lnSpc>
                <a:spcPts val="6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Static camera</a:t>
            </a: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(no zoom or movement)</a:t>
            </a:r>
          </a:p>
          <a:p>
            <a:pPr marL="628650" lvl="1" indent="-171450">
              <a:lnSpc>
                <a:spcPts val="6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Presenter remains </a:t>
            </a:r>
            <a:r>
              <a:rPr lang="en-US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fully visible</a:t>
            </a: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for the duration of the segment</a:t>
            </a:r>
          </a:p>
          <a:p>
            <a:pPr marL="0" marR="0">
              <a:lnSpc>
                <a:spcPts val="600"/>
              </a:lnSpc>
              <a:spcAft>
                <a:spcPts val="800"/>
              </a:spcAft>
              <a:buNone/>
            </a:pP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</a:p>
          <a:p>
            <a:pPr marL="0" marR="0">
              <a:lnSpc>
                <a:spcPts val="600"/>
              </a:lnSpc>
              <a:spcAft>
                <a:spcPts val="800"/>
              </a:spcAft>
              <a:buNone/>
            </a:pPr>
            <a:r>
              <a:rPr lang="en-US" sz="1400" b="1" kern="100" dirty="0">
                <a:effectLst/>
                <a:latin typeface="Segoe UI Emoji" panose="020B0502040204020203" pitchFamily="34" charset="0"/>
                <a:ea typeface="Aptos" panose="020B0004020202020204" pitchFamily="34" charset="0"/>
                <a:cs typeface="Segoe UI Emoji" panose="020B0502040204020203" pitchFamily="34" charset="0"/>
              </a:rPr>
              <a:t>🔹</a:t>
            </a:r>
            <a:r>
              <a:rPr lang="en-US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Scene &amp; Background</a:t>
            </a:r>
            <a:endParaRPr lang="en-US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ts val="6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Setting</a:t>
            </a: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Corporate office or showroom with </a:t>
            </a:r>
            <a:r>
              <a:rPr lang="en-US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AT&amp;T branding</a:t>
            </a:r>
            <a:endParaRPr lang="en-US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ts val="6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Backdrop</a:t>
            </a: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Large digital screen or clean wall with the </a:t>
            </a:r>
            <a:r>
              <a:rPr lang="en-US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AT&amp;T logo</a:t>
            </a:r>
            <a:endParaRPr lang="en-US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ts val="6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Lighting</a:t>
            </a: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Even, soft corporate lighting (blue-white tones)</a:t>
            </a:r>
          </a:p>
          <a:p>
            <a:pPr marL="0" marR="0">
              <a:lnSpc>
                <a:spcPts val="600"/>
              </a:lnSpc>
              <a:spcAft>
                <a:spcPts val="800"/>
              </a:spcAft>
              <a:buNone/>
            </a:pP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</a:p>
          <a:p>
            <a:pPr marL="0" marR="0">
              <a:lnSpc>
                <a:spcPts val="600"/>
              </a:lnSpc>
              <a:spcAft>
                <a:spcPts val="800"/>
              </a:spcAft>
              <a:buNone/>
            </a:pPr>
            <a:r>
              <a:rPr lang="en-US" sz="1400" b="1" kern="100" dirty="0">
                <a:effectLst/>
                <a:latin typeface="Segoe UI Emoji" panose="020B0502040204020203" pitchFamily="34" charset="0"/>
                <a:ea typeface="Aptos" panose="020B0004020202020204" pitchFamily="34" charset="0"/>
                <a:cs typeface="Segoe UI Emoji" panose="020B0502040204020203" pitchFamily="34" charset="0"/>
              </a:rPr>
              <a:t>🔹</a:t>
            </a:r>
            <a:r>
              <a:rPr lang="en-US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Male Presenter Description</a:t>
            </a:r>
            <a:endParaRPr lang="en-US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ts val="6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Ethnic Background</a:t>
            </a: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Caucasian – from </a:t>
            </a:r>
            <a:r>
              <a:rPr lang="en-US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Europe or the United States</a:t>
            </a:r>
            <a:endParaRPr lang="en-US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ts val="6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Age</a:t>
            </a: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45</a:t>
            </a:r>
          </a:p>
          <a:p>
            <a:pPr marL="800100" lvl="1" indent="-342900">
              <a:lnSpc>
                <a:spcPts val="6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Hair</a:t>
            </a: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Bald on top with </a:t>
            </a:r>
            <a:r>
              <a:rPr lang="en-US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short grey hair on the sides</a:t>
            </a:r>
            <a:endParaRPr lang="en-US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ts val="6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Face</a:t>
            </a: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Oval-to-rectangular, clean-shaven, no mustache or beard</a:t>
            </a:r>
          </a:p>
          <a:p>
            <a:pPr marL="800100" lvl="1" indent="-342900">
              <a:lnSpc>
                <a:spcPts val="6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Expression</a:t>
            </a: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Professional, calm, and confident</a:t>
            </a:r>
          </a:p>
          <a:p>
            <a:pPr marL="800100" lvl="1" indent="-342900">
              <a:lnSpc>
                <a:spcPts val="6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Eyes</a:t>
            </a: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Blue</a:t>
            </a:r>
          </a:p>
          <a:p>
            <a:pPr marL="800100" lvl="1" indent="-342900">
              <a:lnSpc>
                <a:spcPts val="6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Posture</a:t>
            </a: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Relaxed but upright, appropriate for a presenter</a:t>
            </a:r>
          </a:p>
          <a:p>
            <a:pPr marL="800100" lvl="1" indent="-342900">
              <a:lnSpc>
                <a:spcPts val="6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Clothing</a:t>
            </a: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</a:p>
          <a:p>
            <a:pPr marL="1200150" lvl="2" indent="-285750">
              <a:lnSpc>
                <a:spcPts val="6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Navy business suit</a:t>
            </a:r>
            <a:endParaRPr lang="en-US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1200150" lvl="2" indent="-285750">
              <a:lnSpc>
                <a:spcPts val="6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White dress shirt</a:t>
            </a:r>
            <a:endParaRPr lang="en-US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1200150" lvl="2" indent="-285750">
              <a:lnSpc>
                <a:spcPts val="6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Black dress shoes</a:t>
            </a:r>
            <a:endParaRPr lang="en-US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ts val="600"/>
              </a:lnSpc>
              <a:spcAft>
                <a:spcPts val="800"/>
              </a:spcAft>
              <a:buNone/>
            </a:pP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</a:p>
          <a:p>
            <a:pPr>
              <a:lnSpc>
                <a:spcPts val="600"/>
              </a:lnSpc>
              <a:spcAft>
                <a:spcPts val="800"/>
              </a:spcAft>
            </a:pPr>
            <a:r>
              <a:rPr lang="en-US" sz="1400" b="1" kern="100" dirty="0">
                <a:effectLst/>
                <a:latin typeface="Segoe UI Emoji" panose="020B0502040204020203" pitchFamily="34" charset="0"/>
                <a:ea typeface="Aptos" panose="020B0004020202020204" pitchFamily="34" charset="0"/>
                <a:cs typeface="Segoe UI Emoji" panose="020B0502040204020203" pitchFamily="34" charset="0"/>
              </a:rPr>
              <a:t>🔹</a:t>
            </a:r>
            <a:r>
              <a:rPr lang="en-US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Dialogue (Spoken Line)</a:t>
            </a:r>
            <a:endParaRPr lang="en-US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ts val="600"/>
              </a:lnSpc>
              <a:spcAft>
                <a:spcPts val="800"/>
              </a:spcAft>
            </a:pPr>
            <a:r>
              <a:rPr lang="en-US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SAY</a:t>
            </a: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</a:p>
          <a:p>
            <a:pPr lvl="1">
              <a:lnSpc>
                <a:spcPts val="600"/>
              </a:lnSpc>
              <a:spcAft>
                <a:spcPts val="800"/>
              </a:spcAft>
            </a:pPr>
            <a:r>
              <a:rPr lang="en-US" sz="1400" i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"Hello, this is an AT&amp;T new product."</a:t>
            </a:r>
            <a:endParaRPr lang="en-US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ts val="6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Tone: Clear, friendly, and professional</a:t>
            </a:r>
          </a:p>
          <a:p>
            <a:pPr marL="800100" lvl="1" indent="-342900">
              <a:lnSpc>
                <a:spcPts val="6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 character’s </a:t>
            </a:r>
            <a:r>
              <a:rPr lang="en-US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mouth moves visibly</a:t>
            </a: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while saying the line (lip animation encouraged)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0150021-B067-C55E-7DA4-476F9B6B156F}"/>
              </a:ext>
            </a:extLst>
          </p:cNvPr>
          <p:cNvSpPr txBox="1"/>
          <p:nvPr/>
        </p:nvSpPr>
        <p:spPr>
          <a:xfrm>
            <a:off x="5922405" y="667616"/>
            <a:ext cx="5660499" cy="21954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 sz="1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Segoe UI Emoji" panose="020B0502040204020203" pitchFamily="34" charset="0"/>
              </a:rPr>
              <a:t>🔹</a:t>
            </a:r>
            <a:r>
              <a:rPr lang="en-US" sz="1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Prompt for AI Video Tools (e.g., Veo 3 / Runway)</a:t>
            </a:r>
            <a:endParaRPr lang="en-US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lvl="1">
              <a:spcAft>
                <a:spcPts val="800"/>
              </a:spcAft>
            </a:pP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“A </a:t>
            </a:r>
            <a:r>
              <a:rPr lang="en-US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45-year-old professional Caucasian male</a:t>
            </a: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from the US or Europe stands confidently in a well-lit corporate environment with the </a:t>
            </a:r>
            <a:r>
              <a:rPr lang="en-US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AT&amp;T logo</a:t>
            </a: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in the background. He is </a:t>
            </a:r>
            <a:r>
              <a:rPr lang="en-US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bald on top with short grey hair on the sides</a:t>
            </a: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has </a:t>
            </a:r>
            <a:r>
              <a:rPr lang="en-US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blue eyes</a:t>
            </a: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and a </a:t>
            </a:r>
            <a:r>
              <a:rPr lang="en-US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clean-shaven face</a:t>
            </a: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He wears a </a:t>
            </a:r>
            <a:r>
              <a:rPr lang="en-US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navy suit</a:t>
            </a: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white dress shirt</a:t>
            </a: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and </a:t>
            </a:r>
            <a:r>
              <a:rPr lang="en-US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black shoes</a:t>
            </a: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The video shows his </a:t>
            </a:r>
            <a:r>
              <a:rPr lang="en-US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entire body from head to toe</a:t>
            </a: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in a </a:t>
            </a:r>
            <a:r>
              <a:rPr lang="en-US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static camera shot</a:t>
            </a: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no zoom. He </a:t>
            </a:r>
            <a:r>
              <a:rPr lang="en-US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says: 'Hello, this is an AT&amp;T new product'</a:t>
            </a: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with </a:t>
            </a:r>
            <a:r>
              <a:rPr lang="en-US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visible lip movement</a:t>
            </a: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.”</a:t>
            </a:r>
          </a:p>
        </p:txBody>
      </p:sp>
    </p:spTree>
    <p:extLst>
      <p:ext uri="{BB962C8B-B14F-4D97-AF65-F5344CB8AC3E}">
        <p14:creationId xmlns:p14="http://schemas.microsoft.com/office/powerpoint/2010/main" val="13478726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8CC48-4E09-7C78-728C-8C6EB3AFC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878" y="2297452"/>
            <a:ext cx="11510496" cy="652852"/>
          </a:xfrm>
        </p:spPr>
        <p:txBody>
          <a:bodyPr/>
          <a:lstStyle/>
          <a:p>
            <a:pPr algn="ctr"/>
            <a:r>
              <a:rPr lang="en-US" sz="5400" dirty="0">
                <a:latin typeface="ATT Aleck Sans Medium"/>
              </a:rPr>
              <a:t>BACKGROUND</a:t>
            </a:r>
            <a:endParaRPr lang="en-US" sz="5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62F4BD2-B87F-70DC-FA3E-5A9C9EA71AF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4E3109C-F841-A249-A33C-708B7DCDEF14}" type="slidenum">
              <a:rPr lang="en-US" smtClean="0"/>
              <a:t>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58501C-2E15-402A-3EC0-8C4CF5A54BC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2022 5GIS Sponsor Summit / Nov 8, 2021 / © 2021 AT&amp;T - AT&amp;T Proprietary (Internal Use Only) - Shared under NDA </a:t>
            </a:r>
          </a:p>
        </p:txBody>
      </p:sp>
    </p:spTree>
    <p:extLst>
      <p:ext uri="{BB962C8B-B14F-4D97-AF65-F5344CB8AC3E}">
        <p14:creationId xmlns:p14="http://schemas.microsoft.com/office/powerpoint/2010/main" val="13131773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F26A3-20B0-A638-0D22-9839F08BF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Character and scene templates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6852E14-E717-0A82-2EFD-52C3E02FD20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29270" y="718457"/>
            <a:ext cx="5538071" cy="5442631"/>
          </a:xfrm>
        </p:spPr>
        <p:txBody>
          <a:bodyPr>
            <a:normAutofit fontScale="92500" lnSpcReduction="20000"/>
          </a:bodyPr>
          <a:lstStyle/>
          <a:p>
            <a:pPr marL="0" marR="0">
              <a:buNone/>
            </a:pPr>
            <a:r>
              <a:rPr lang="en-US" sz="1600" b="1" u="sng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Male Template</a:t>
            </a:r>
            <a:endParaRPr lang="en-US" sz="12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0" marR="0">
              <a:buNone/>
            </a:pPr>
            <a:r>
              <a:rPr lang="en-US" sz="1350" b="1" dirty="0">
                <a:effectLst/>
                <a:latin typeface="Segoe UI Emoji" panose="020B0502040204020203" pitchFamily="34" charset="0"/>
                <a:ea typeface="Aptos" panose="020B0004020202020204" pitchFamily="34" charset="0"/>
                <a:cs typeface="Aptos" panose="020B0004020202020204" pitchFamily="34" charset="0"/>
              </a:rPr>
              <a:t>🔹</a:t>
            </a:r>
            <a:r>
              <a:rPr lang="en-US" sz="1350" b="1" dirty="0">
                <a:effectLst/>
                <a:latin typeface="Helvetica" panose="020B06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 Camera Instructions</a:t>
            </a:r>
            <a:endParaRPr lang="en-US" sz="12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000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The scene begins and remains on a </a:t>
            </a:r>
            <a:r>
              <a:rPr lang="en-US" sz="1000" b="1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static full-body view</a:t>
            </a:r>
            <a:endParaRPr lang="en-US" sz="12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000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The character is </a:t>
            </a:r>
            <a:r>
              <a:rPr lang="en-US" sz="1000" b="1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completely visible from head to foot</a:t>
            </a:r>
            <a:r>
              <a:rPr lang="en-US" sz="1000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, standing on a visible floor</a:t>
            </a:r>
            <a:endParaRPr lang="en-US" sz="12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000" b="1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No zooming, panning, or cuts</a:t>
            </a:r>
            <a:endParaRPr lang="en-US" sz="12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000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The framing remains constant for the </a:t>
            </a:r>
            <a:r>
              <a:rPr lang="en-US" sz="1000" b="1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entire duration of the segment</a:t>
            </a:r>
            <a:endParaRPr lang="en-US" sz="12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0" marR="0">
              <a:buNone/>
            </a:pPr>
            <a:r>
              <a:rPr lang="en-US" sz="1000" dirty="0">
                <a:effectLst/>
                <a:latin typeface="Helvetica" panose="020B06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 </a:t>
            </a:r>
            <a:endParaRPr lang="en-US" sz="12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0" marR="0">
              <a:buNone/>
            </a:pPr>
            <a:r>
              <a:rPr lang="en-US" sz="1350" b="1" dirty="0">
                <a:effectLst/>
                <a:latin typeface="Segoe UI Emoji" panose="020B0502040204020203" pitchFamily="34" charset="0"/>
                <a:ea typeface="Aptos" panose="020B0004020202020204" pitchFamily="34" charset="0"/>
                <a:cs typeface="Aptos" panose="020B0004020202020204" pitchFamily="34" charset="0"/>
              </a:rPr>
              <a:t>🔹</a:t>
            </a:r>
            <a:r>
              <a:rPr lang="en-US" sz="1350" b="1" dirty="0">
                <a:effectLst/>
                <a:latin typeface="Helvetica" panose="020B06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 Character Details</a:t>
            </a:r>
            <a:endParaRPr lang="en-US" sz="12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000" b="1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Age:</a:t>
            </a:r>
            <a:r>
              <a:rPr lang="en-US" sz="1000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 45</a:t>
            </a:r>
            <a:endParaRPr lang="en-US" sz="12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000" b="1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Gender:</a:t>
            </a:r>
            <a:r>
              <a:rPr lang="en-US" sz="1000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 Male</a:t>
            </a:r>
            <a:endParaRPr lang="en-US" sz="12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000" b="1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Ethnicity:</a:t>
            </a:r>
            <a:r>
              <a:rPr lang="en-US" sz="1000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 American or Western European</a:t>
            </a:r>
            <a:endParaRPr lang="en-US" sz="12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000" b="1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Body Type:</a:t>
            </a:r>
            <a:r>
              <a:rPr lang="en-US" sz="1000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 Slim, average frame</a:t>
            </a:r>
            <a:endParaRPr lang="en-US" sz="12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000" b="1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Height:</a:t>
            </a:r>
            <a:r>
              <a:rPr lang="en-US" sz="1000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 Approximately 5'9"</a:t>
            </a:r>
            <a:endParaRPr lang="en-US" sz="12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000" b="1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Posture:</a:t>
            </a:r>
            <a:r>
              <a:rPr lang="en-US" sz="1000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 Relaxed but professional</a:t>
            </a:r>
            <a:endParaRPr lang="en-US" sz="12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0" marR="0">
              <a:buNone/>
            </a:pPr>
            <a:r>
              <a:rPr lang="en-US" sz="1000" dirty="0">
                <a:effectLst/>
                <a:latin typeface="Helvetica" panose="020B06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 </a:t>
            </a:r>
            <a:endParaRPr lang="en-US" sz="12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0" marR="0">
              <a:buNone/>
            </a:pPr>
            <a:r>
              <a:rPr lang="en-US" sz="1350" b="1" dirty="0">
                <a:effectLst/>
                <a:latin typeface="Segoe UI Emoji" panose="020B0502040204020203" pitchFamily="34" charset="0"/>
                <a:ea typeface="Aptos" panose="020B0004020202020204" pitchFamily="34" charset="0"/>
                <a:cs typeface="Aptos" panose="020B0004020202020204" pitchFamily="34" charset="0"/>
              </a:rPr>
              <a:t>🔹</a:t>
            </a:r>
            <a:r>
              <a:rPr lang="en-US" sz="1350" b="1" dirty="0">
                <a:effectLst/>
                <a:latin typeface="Helvetica" panose="020B06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 Facial Features</a:t>
            </a:r>
            <a:endParaRPr lang="en-US" sz="12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000" b="1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Hair:</a:t>
            </a:r>
            <a:r>
              <a:rPr lang="en-US" sz="1000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 Bald on top with short grey hair on the sides</a:t>
            </a:r>
            <a:endParaRPr lang="en-US" sz="12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000" b="1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Face:</a:t>
            </a:r>
            <a:endParaRPr lang="en-US" sz="12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742950" marR="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000" dirty="0">
                <a:effectLst/>
                <a:latin typeface="Segoe UI Emoj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✅</a:t>
            </a:r>
            <a:r>
              <a:rPr lang="en-US" sz="1000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b="1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Completely clean-shaven</a:t>
            </a:r>
            <a:endParaRPr lang="en-US" sz="12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000" dirty="0">
                <a:effectLst/>
                <a:latin typeface="Segoe UI Emoj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✅</a:t>
            </a:r>
            <a:r>
              <a:rPr lang="en-US" sz="1000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b="1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 mustache, no beard, no chin or cheek hair</a:t>
            </a:r>
            <a:endParaRPr lang="en-US" sz="12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000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Smooth, clear jawline</a:t>
            </a:r>
            <a:endParaRPr lang="en-US" sz="12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000" b="1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Eyebrows:</a:t>
            </a:r>
            <a:r>
              <a:rPr lang="en-US" sz="1000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 Grey-brown, medium thickness with a soft arch</a:t>
            </a:r>
            <a:endParaRPr lang="en-US" sz="12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000" b="1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Eyes:</a:t>
            </a:r>
            <a:r>
              <a:rPr lang="en-US" sz="1000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 Blue, calm and focused</a:t>
            </a:r>
            <a:endParaRPr lang="en-US" sz="12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000" b="1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Expression:</a:t>
            </a:r>
            <a:r>
              <a:rPr lang="en-US" sz="1000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 Gentle smile with a professional demeanor</a:t>
            </a:r>
            <a:endParaRPr lang="en-US" sz="12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22BFF42-3072-32F8-E888-D1873B8E6E5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299967" y="718457"/>
            <a:ext cx="5533561" cy="5442632"/>
          </a:xfrm>
        </p:spPr>
        <p:txBody>
          <a:bodyPr>
            <a:normAutofit fontScale="77500" lnSpcReduction="20000"/>
          </a:bodyPr>
          <a:lstStyle/>
          <a:p>
            <a:pPr marL="0" marR="0">
              <a:buNone/>
            </a:pPr>
            <a:r>
              <a:rPr lang="en-US" sz="1800" b="1" dirty="0">
                <a:effectLst/>
                <a:latin typeface="Helvetica" panose="020B06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Outfit</a:t>
            </a:r>
            <a:endParaRPr lang="en-US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Navy blue business suit</a:t>
            </a:r>
            <a:endParaRPr lang="en-US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White dress shirt</a:t>
            </a:r>
            <a:endParaRPr lang="en-US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Black leather dress shoes (fully visible)</a:t>
            </a:r>
            <a:endParaRPr lang="en-US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Optional: watch or company pin</a:t>
            </a:r>
            <a:endParaRPr lang="en-US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0" marR="0">
              <a:buNone/>
            </a:pPr>
            <a:r>
              <a:rPr lang="en-US" sz="1800" dirty="0">
                <a:effectLst/>
                <a:latin typeface="Helvetica" panose="020B06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 </a:t>
            </a:r>
            <a:endParaRPr lang="en-US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0" marR="0">
              <a:buNone/>
            </a:pPr>
            <a:r>
              <a:rPr lang="en-US" sz="1800" b="1" dirty="0">
                <a:effectLst/>
                <a:latin typeface="Segoe UI Emoji" panose="020B0502040204020203" pitchFamily="34" charset="0"/>
                <a:ea typeface="Aptos" panose="020B0004020202020204" pitchFamily="34" charset="0"/>
                <a:cs typeface="Aptos" panose="020B0004020202020204" pitchFamily="34" charset="0"/>
              </a:rPr>
              <a:t>🔹</a:t>
            </a:r>
            <a:r>
              <a:rPr lang="en-US" sz="1800" b="1" dirty="0">
                <a:effectLst/>
                <a:latin typeface="Helvetica" panose="020B06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 Voice &amp; Expression</a:t>
            </a:r>
            <a:endParaRPr lang="en-US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The presenter </a:t>
            </a:r>
            <a:r>
              <a:rPr lang="en-US" sz="1800" b="1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says: “Hello, world.”</a:t>
            </a:r>
            <a:endParaRPr lang="en-US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His </a:t>
            </a:r>
            <a:r>
              <a:rPr lang="en-US" sz="1800" b="1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mouth visibly moves</a:t>
            </a:r>
            <a:r>
              <a:rPr lang="en-US" sz="1800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 in sync with the speech</a:t>
            </a:r>
            <a:endParaRPr lang="en-US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Speaking tone is calm and professional</a:t>
            </a:r>
            <a:endParaRPr lang="en-US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0" marR="0">
              <a:buNone/>
            </a:pPr>
            <a:r>
              <a:rPr lang="en-US" sz="1800" dirty="0">
                <a:effectLst/>
                <a:latin typeface="Helvetica" panose="020B06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 </a:t>
            </a:r>
            <a:endParaRPr lang="en-US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0" marR="0">
              <a:buNone/>
            </a:pPr>
            <a:r>
              <a:rPr lang="en-US" sz="1800" b="1" dirty="0">
                <a:effectLst/>
                <a:latin typeface="Segoe UI Emoji" panose="020B0502040204020203" pitchFamily="34" charset="0"/>
                <a:ea typeface="Aptos" panose="020B0004020202020204" pitchFamily="34" charset="0"/>
                <a:cs typeface="Aptos" panose="020B0004020202020204" pitchFamily="34" charset="0"/>
              </a:rPr>
              <a:t>🔹</a:t>
            </a:r>
            <a:r>
              <a:rPr lang="en-US" sz="1800" b="1" dirty="0">
                <a:effectLst/>
                <a:latin typeface="Helvetica" panose="020B06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 Final Generation Prompt</a:t>
            </a:r>
            <a:endParaRPr lang="en-US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0" marR="0">
              <a:buNone/>
            </a:pPr>
            <a:r>
              <a:rPr lang="en-US" sz="1800" dirty="0">
                <a:effectLst/>
                <a:latin typeface="Helvetica" panose="020B06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"A 45-year-old professional man with blue eyes, a bald crown, and short grey hair on the sides. He is clean-shaven with no facial hair at all. He wears a navy business suit, white shirt, and black formal shoes. The camera shows his </a:t>
            </a:r>
            <a:r>
              <a:rPr lang="en-US" sz="1800" b="1" dirty="0">
                <a:effectLst/>
                <a:latin typeface="Helvetica" panose="020B06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entire body from head to feet</a:t>
            </a:r>
            <a:r>
              <a:rPr lang="en-US" sz="1800" dirty="0">
                <a:effectLst/>
                <a:latin typeface="Helvetica" panose="020B06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, including the floor, from the </a:t>
            </a:r>
            <a:r>
              <a:rPr lang="en-US" sz="1800" b="1" dirty="0">
                <a:effectLst/>
                <a:latin typeface="Helvetica" panose="020B06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very beginning of the scene and remains unchanged until the end</a:t>
            </a:r>
            <a:r>
              <a:rPr lang="en-US" sz="1800" dirty="0">
                <a:effectLst/>
                <a:latin typeface="Helvetica" panose="020B06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. He stands in a modern, well-lit office setting. He </a:t>
            </a:r>
            <a:r>
              <a:rPr lang="en-US" sz="1800" b="1" dirty="0">
                <a:effectLst/>
                <a:latin typeface="Helvetica" panose="020B06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says: 'Hello, world,' with visible mouth movement</a:t>
            </a:r>
            <a:r>
              <a:rPr lang="en-US" sz="1800" dirty="0">
                <a:effectLst/>
                <a:latin typeface="Helvetica" panose="020B06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. The scene uses a </a:t>
            </a:r>
            <a:r>
              <a:rPr lang="en-US" sz="1800" b="1" dirty="0">
                <a:effectLst/>
                <a:latin typeface="Helvetica" panose="020B06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static camera with no zoom or motion</a:t>
            </a:r>
            <a:r>
              <a:rPr lang="en-US" sz="1800" dirty="0">
                <a:effectLst/>
                <a:latin typeface="Helvetica" panose="020B06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."</a:t>
            </a:r>
            <a:endParaRPr lang="en-US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0" marR="0"/>
            <a:r>
              <a:rPr lang="en-US" sz="1800" dirty="0">
                <a:effectLst/>
                <a:latin typeface="Helvetica" panose="020B06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 </a:t>
            </a:r>
            <a:endParaRPr lang="en-US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82EFB87-4C33-1255-19ED-7777C5CAB7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E3109C-F841-A249-A33C-708B7DCDEF14}" type="slidenum">
              <a:rPr lang="en-US" smtClean="0"/>
              <a:t>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873BFF-18DD-0976-C3AF-0068166907A9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2022 5GIS Sponsor Summit / Nov 8, 2021 / © 2021 AT&amp;T - AT&amp;T Proprietary (Internal Use Only) - Shared under NDA </a:t>
            </a:r>
          </a:p>
        </p:txBody>
      </p:sp>
    </p:spTree>
    <p:extLst>
      <p:ext uri="{BB962C8B-B14F-4D97-AF65-F5344CB8AC3E}">
        <p14:creationId xmlns:p14="http://schemas.microsoft.com/office/powerpoint/2010/main" val="4002638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5786EF-4AD5-7558-8068-E03FC2180A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E7D74-AD0F-DB20-78D5-BA39DA50D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Character and scene templates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60E48A7-92A5-6471-74D9-8963DA794DD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29270" y="718457"/>
            <a:ext cx="5538071" cy="5442631"/>
          </a:xfrm>
        </p:spPr>
        <p:txBody>
          <a:bodyPr>
            <a:normAutofit fontScale="62500" lnSpcReduction="20000"/>
          </a:bodyPr>
          <a:lstStyle/>
          <a:p>
            <a:pPr marL="0" marR="0">
              <a:buNone/>
            </a:pPr>
            <a:r>
              <a:rPr lang="en-US" sz="1800" b="1" u="sng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Female Template:</a:t>
            </a:r>
            <a:endParaRPr lang="en-US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0" marR="0">
              <a:buNone/>
            </a:pPr>
            <a:r>
              <a:rPr lang="en-US" sz="1800" dirty="0">
                <a:effectLst/>
                <a:latin typeface="Helvetica" panose="020B06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 </a:t>
            </a:r>
            <a:endParaRPr lang="en-US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0" marR="0">
              <a:buNone/>
            </a:pPr>
            <a:r>
              <a:rPr lang="en-US" sz="1800" b="1" dirty="0">
                <a:effectLst/>
                <a:latin typeface="Helvetica" panose="020B06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 </a:t>
            </a:r>
            <a:r>
              <a:rPr lang="en-US" sz="1800" b="1" dirty="0">
                <a:effectLst/>
                <a:latin typeface="Segoe UI Emoji" panose="020B0502040204020203" pitchFamily="34" charset="0"/>
                <a:ea typeface="Aptos" panose="020B0004020202020204" pitchFamily="34" charset="0"/>
                <a:cs typeface="Segoe UI Emoji" panose="020B0502040204020203" pitchFamily="34" charset="0"/>
              </a:rPr>
              <a:t>📷</a:t>
            </a:r>
            <a:r>
              <a:rPr lang="en-US" sz="1800" b="1" dirty="0">
                <a:effectLst/>
                <a:latin typeface="Helvetica" panose="020B06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 Camera Instructions</a:t>
            </a:r>
            <a:endParaRPr lang="en-US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Static camera</a:t>
            </a:r>
            <a:endParaRPr lang="en-US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Full-body framing from foot to head</a:t>
            </a:r>
            <a:r>
              <a:rPr lang="en-US" sz="1800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 visible </a:t>
            </a:r>
            <a:r>
              <a:rPr lang="en-US" sz="1800" b="1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throughout the entire segment</a:t>
            </a:r>
            <a:endParaRPr lang="en-US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No zoom, no panning, no cuts</a:t>
            </a:r>
            <a:endParaRPr lang="en-US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Floor must be visible</a:t>
            </a:r>
            <a:endParaRPr lang="en-US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0" marR="0">
              <a:buNone/>
            </a:pPr>
            <a:r>
              <a:rPr lang="en-US" sz="1800" dirty="0">
                <a:effectLst/>
                <a:latin typeface="Helvetica" panose="020B06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 </a:t>
            </a:r>
            <a:endParaRPr lang="en-US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0" marR="0">
              <a:buNone/>
            </a:pPr>
            <a:r>
              <a:rPr lang="en-US" sz="1800" b="1" dirty="0">
                <a:effectLst/>
                <a:latin typeface="Segoe UI Emoji" panose="020B0502040204020203" pitchFamily="34" charset="0"/>
                <a:ea typeface="Aptos" panose="020B0004020202020204" pitchFamily="34" charset="0"/>
                <a:cs typeface="Aptos" panose="020B0004020202020204" pitchFamily="34" charset="0"/>
              </a:rPr>
              <a:t>🔹</a:t>
            </a:r>
            <a:r>
              <a:rPr lang="en-US" sz="1800" b="1" dirty="0">
                <a:effectLst/>
                <a:latin typeface="Helvetica" panose="020B06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</a:t>
            </a:r>
            <a:r>
              <a:rPr lang="en-US" sz="1800" b="1" dirty="0">
                <a:effectLst/>
                <a:latin typeface="Segoe UI Emoji" panose="020B0502040204020203" pitchFamily="34" charset="0"/>
                <a:ea typeface="Aptos" panose="020B0004020202020204" pitchFamily="34" charset="0"/>
                <a:cs typeface="Segoe UI Emoji" panose="020B0502040204020203" pitchFamily="34" charset="0"/>
              </a:rPr>
              <a:t>👤</a:t>
            </a:r>
            <a:r>
              <a:rPr lang="en-US" sz="1800" b="1" dirty="0">
                <a:effectLst/>
                <a:latin typeface="Helvetica" panose="020B06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 Character Details</a:t>
            </a:r>
            <a:endParaRPr lang="en-US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Age:</a:t>
            </a:r>
            <a:r>
              <a:rPr lang="en-US" sz="1800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 35</a:t>
            </a:r>
            <a:endParaRPr lang="en-US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Gender:</a:t>
            </a:r>
            <a:r>
              <a:rPr lang="en-US" sz="1800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 Female</a:t>
            </a:r>
            <a:endParaRPr lang="en-US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Ethnicity:</a:t>
            </a:r>
            <a:r>
              <a:rPr lang="en-US" sz="1800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 Caucasian (European or American appearance)</a:t>
            </a:r>
            <a:endParaRPr lang="en-US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Body Type:</a:t>
            </a:r>
            <a:r>
              <a:rPr lang="en-US" sz="1800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 Slim, average height</a:t>
            </a:r>
            <a:endParaRPr lang="en-US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Posture:</a:t>
            </a:r>
            <a:r>
              <a:rPr lang="en-US" sz="1800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 Upright, confident, professional</a:t>
            </a:r>
            <a:endParaRPr lang="en-US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0" marR="0">
              <a:buNone/>
            </a:pPr>
            <a:r>
              <a:rPr lang="en-US" sz="1800" dirty="0">
                <a:effectLst/>
                <a:latin typeface="Helvetica" panose="020B06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 </a:t>
            </a:r>
            <a:endParaRPr lang="en-US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0" marR="0">
              <a:buNone/>
            </a:pPr>
            <a:r>
              <a:rPr lang="en-US" sz="1800" b="1" dirty="0">
                <a:effectLst/>
                <a:latin typeface="Segoe UI Emoji" panose="020B0502040204020203" pitchFamily="34" charset="0"/>
                <a:ea typeface="Aptos" panose="020B0004020202020204" pitchFamily="34" charset="0"/>
                <a:cs typeface="Aptos" panose="020B0004020202020204" pitchFamily="34" charset="0"/>
              </a:rPr>
              <a:t>🔹</a:t>
            </a:r>
            <a:r>
              <a:rPr lang="en-US" sz="1800" b="1" dirty="0">
                <a:effectLst/>
                <a:latin typeface="Helvetica" panose="020B06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</a:t>
            </a:r>
            <a:r>
              <a:rPr lang="en-US" sz="1800" b="1" dirty="0">
                <a:effectLst/>
                <a:latin typeface="Segoe UI Emoji" panose="020B0502040204020203" pitchFamily="34" charset="0"/>
                <a:ea typeface="Aptos" panose="020B0004020202020204" pitchFamily="34" charset="0"/>
                <a:cs typeface="Segoe UI Emoji" panose="020B0502040204020203" pitchFamily="34" charset="0"/>
              </a:rPr>
              <a:t>🧑</a:t>
            </a:r>
            <a:r>
              <a:rPr lang="en-US" sz="1800" b="1" dirty="0">
                <a:effectLst/>
                <a:latin typeface="Helvetica" panose="020B06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 Facial Features</a:t>
            </a:r>
            <a:endParaRPr lang="en-US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Hair:</a:t>
            </a:r>
            <a:r>
              <a:rPr lang="en-US" sz="1800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 Blonde, shoulder-length, slightly wavy or straight</a:t>
            </a:r>
            <a:endParaRPr lang="en-US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Face:</a:t>
            </a:r>
            <a:r>
              <a:rPr lang="en-US" sz="1800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 Oval-shaped, light natural makeup</a:t>
            </a:r>
            <a:endParaRPr lang="en-US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Eyebrows:</a:t>
            </a:r>
            <a:r>
              <a:rPr lang="en-US" sz="1800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 Light brown or blonde, softly arched, medium density</a:t>
            </a:r>
            <a:endParaRPr lang="en-US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Eyes:</a:t>
            </a:r>
            <a:r>
              <a:rPr lang="en-US" sz="1800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 Blue, with a calm and confident expression</a:t>
            </a:r>
            <a:endParaRPr lang="en-US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Facial Hair:</a:t>
            </a:r>
            <a:r>
              <a:rPr lang="en-US" sz="1800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 None (clean face)</a:t>
            </a:r>
            <a:endParaRPr lang="en-US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Mouth:</a:t>
            </a:r>
            <a:r>
              <a:rPr lang="en-US" sz="1800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 Subtle smile, </a:t>
            </a:r>
            <a:r>
              <a:rPr lang="en-US" sz="1800" b="1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mouth visibly moves while speaking</a:t>
            </a:r>
            <a:endParaRPr lang="en-US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65FA0A5-FEE1-D616-BE11-3A9A68AAD50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299967" y="718457"/>
            <a:ext cx="5533561" cy="5442632"/>
          </a:xfrm>
        </p:spPr>
        <p:txBody>
          <a:bodyPr>
            <a:normAutofit fontScale="47500" lnSpcReduction="20000"/>
          </a:bodyPr>
          <a:lstStyle/>
          <a:p>
            <a:pPr marL="0" marR="0">
              <a:buNone/>
            </a:pP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 </a:t>
            </a:r>
          </a:p>
          <a:p>
            <a:pPr marL="0" marR="0">
              <a:buNone/>
            </a:pPr>
            <a:r>
              <a:rPr lang="en-US" sz="1800" b="1" dirty="0">
                <a:effectLst/>
                <a:latin typeface="Segoe UI Emoji" panose="020B0502040204020203" pitchFamily="34" charset="0"/>
                <a:ea typeface="Aptos" panose="020B0004020202020204" pitchFamily="34" charset="0"/>
                <a:cs typeface="Aptos" panose="020B0004020202020204" pitchFamily="34" charset="0"/>
              </a:rPr>
              <a:t>🔹</a:t>
            </a:r>
            <a:r>
              <a:rPr lang="en-US" sz="1800" b="1" dirty="0">
                <a:effectLst/>
                <a:latin typeface="Helvetica" panose="020B06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</a:t>
            </a:r>
            <a:r>
              <a:rPr lang="en-US" sz="1800" b="1" dirty="0">
                <a:effectLst/>
                <a:latin typeface="Segoe UI Emoji" panose="020B0502040204020203" pitchFamily="34" charset="0"/>
                <a:ea typeface="Aptos" panose="020B0004020202020204" pitchFamily="34" charset="0"/>
                <a:cs typeface="Segoe UI Emoji" panose="020B0502040204020203" pitchFamily="34" charset="0"/>
              </a:rPr>
              <a:t>👗</a:t>
            </a:r>
            <a:r>
              <a:rPr lang="en-US" sz="1800" b="1" dirty="0">
                <a:effectLst/>
                <a:latin typeface="Helvetica" panose="020B06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 Outfit</a:t>
            </a:r>
            <a:endParaRPr lang="en-US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Top:</a:t>
            </a:r>
            <a:r>
              <a:rPr lang="en-US" sz="1800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 Light-colored blouse or buttoned shirt</a:t>
            </a:r>
            <a:endParaRPr lang="en-US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Jacket:</a:t>
            </a:r>
            <a:r>
              <a:rPr lang="en-US" sz="1800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 Navy or grey blazer</a:t>
            </a:r>
            <a:endParaRPr lang="en-US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Bottom:</a:t>
            </a:r>
            <a:r>
              <a:rPr lang="en-US" sz="1800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 Knee-length professional skirt (just above the knee)</a:t>
            </a:r>
            <a:endParaRPr lang="en-US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Shoes:</a:t>
            </a:r>
            <a:r>
              <a:rPr lang="en-US" sz="1800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 Black closed-toe flats or heels</a:t>
            </a:r>
            <a:endParaRPr lang="en-US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Accessories:</a:t>
            </a:r>
            <a:r>
              <a:rPr lang="en-US" sz="1800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 Optional watch, earrings, or a company badge</a:t>
            </a:r>
            <a:endParaRPr lang="en-US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0" marR="0">
              <a:buNone/>
            </a:pPr>
            <a:r>
              <a:rPr lang="en-US" sz="1800" dirty="0">
                <a:effectLst/>
                <a:latin typeface="Helvetica" panose="020B06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 </a:t>
            </a:r>
            <a:endParaRPr lang="en-US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0" marR="0">
              <a:buNone/>
            </a:pPr>
            <a:r>
              <a:rPr lang="en-US" sz="1800" b="1" dirty="0">
                <a:effectLst/>
                <a:latin typeface="Segoe UI Emoji" panose="020B0502040204020203" pitchFamily="34" charset="0"/>
                <a:ea typeface="Aptos" panose="020B0004020202020204" pitchFamily="34" charset="0"/>
                <a:cs typeface="Aptos" panose="020B0004020202020204" pitchFamily="34" charset="0"/>
              </a:rPr>
              <a:t>🔹</a:t>
            </a:r>
            <a:r>
              <a:rPr lang="en-US" sz="1800" b="1" dirty="0">
                <a:effectLst/>
                <a:latin typeface="Helvetica" panose="020B06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</a:t>
            </a:r>
            <a:r>
              <a:rPr lang="en-US" sz="1800" b="1" dirty="0">
                <a:effectLst/>
                <a:latin typeface="Segoe UI Emoji" panose="020B0502040204020203" pitchFamily="34" charset="0"/>
                <a:ea typeface="Aptos" panose="020B0004020202020204" pitchFamily="34" charset="0"/>
                <a:cs typeface="Segoe UI Emoji" panose="020B0502040204020203" pitchFamily="34" charset="0"/>
              </a:rPr>
              <a:t>🏢</a:t>
            </a:r>
            <a:r>
              <a:rPr lang="en-US" sz="1800" b="1" dirty="0">
                <a:effectLst/>
                <a:latin typeface="Helvetica" panose="020B06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 Background</a:t>
            </a:r>
            <a:endParaRPr lang="en-US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A clean, modern office environment</a:t>
            </a:r>
            <a:endParaRPr lang="en-US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The </a:t>
            </a:r>
            <a:r>
              <a:rPr lang="en-US" sz="1800" b="1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AT&amp;T logo</a:t>
            </a:r>
            <a:r>
              <a:rPr lang="en-US" sz="1800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 is prominently displayed on a screen or wall behind the presenter</a:t>
            </a:r>
            <a:endParaRPr lang="en-US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Blue and white color theme to match corporate branding</a:t>
            </a:r>
            <a:endParaRPr lang="en-US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Neutral lighting, professional setting</a:t>
            </a:r>
            <a:endParaRPr lang="en-US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0" marR="0">
              <a:buNone/>
            </a:pPr>
            <a:r>
              <a:rPr lang="en-US" sz="1800" dirty="0">
                <a:effectLst/>
                <a:latin typeface="Helvetica" panose="020B06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 </a:t>
            </a:r>
            <a:endParaRPr lang="en-US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0" marR="0">
              <a:buNone/>
            </a:pPr>
            <a:r>
              <a:rPr lang="en-US" sz="1800" b="1" dirty="0">
                <a:effectLst/>
                <a:latin typeface="Segoe UI Emoji" panose="020B0502040204020203" pitchFamily="34" charset="0"/>
                <a:ea typeface="Aptos" panose="020B0004020202020204" pitchFamily="34" charset="0"/>
                <a:cs typeface="Aptos" panose="020B0004020202020204" pitchFamily="34" charset="0"/>
              </a:rPr>
              <a:t>🔹</a:t>
            </a:r>
            <a:r>
              <a:rPr lang="en-US" sz="1800" b="1" dirty="0">
                <a:effectLst/>
                <a:latin typeface="Helvetica" panose="020B06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</a:t>
            </a:r>
            <a:r>
              <a:rPr lang="en-US" sz="1800" b="1" dirty="0">
                <a:effectLst/>
                <a:latin typeface="Segoe UI Emoji" panose="020B0502040204020203" pitchFamily="34" charset="0"/>
                <a:ea typeface="Aptos" panose="020B0004020202020204" pitchFamily="34" charset="0"/>
                <a:cs typeface="Segoe UI Emoji" panose="020B0502040204020203" pitchFamily="34" charset="0"/>
              </a:rPr>
              <a:t>🎤</a:t>
            </a:r>
            <a:r>
              <a:rPr lang="en-US" sz="1800" b="1" dirty="0">
                <a:effectLst/>
                <a:latin typeface="Helvetica" panose="020B06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 Voice &amp; Speaking</a:t>
            </a:r>
            <a:endParaRPr lang="en-US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She says:</a:t>
            </a:r>
            <a:r>
              <a:rPr lang="en-US" sz="1800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 “Hello, world.”</a:t>
            </a:r>
            <a:endParaRPr lang="en-US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Speaking is calm, professional, and warm</a:t>
            </a:r>
            <a:endParaRPr lang="en-US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Mouth moves visibly while speaking</a:t>
            </a:r>
            <a:r>
              <a:rPr lang="en-US" sz="1800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 (lip-sync suggested but not required to be perfect)</a:t>
            </a:r>
            <a:endParaRPr lang="en-US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0" marR="0">
              <a:buNone/>
            </a:pPr>
            <a:r>
              <a:rPr lang="en-US" sz="1800" dirty="0">
                <a:effectLst/>
                <a:latin typeface="Helvetica" panose="020B06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 </a:t>
            </a:r>
            <a:endParaRPr lang="en-US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0" marR="0">
              <a:buNone/>
            </a:pPr>
            <a:r>
              <a:rPr lang="en-US" sz="1800" b="1" dirty="0">
                <a:effectLst/>
                <a:latin typeface="Segoe UI Emoji" panose="020B0502040204020203" pitchFamily="34" charset="0"/>
                <a:ea typeface="Aptos" panose="020B0004020202020204" pitchFamily="34" charset="0"/>
                <a:cs typeface="Aptos" panose="020B0004020202020204" pitchFamily="34" charset="0"/>
              </a:rPr>
              <a:t>🔹</a:t>
            </a:r>
            <a:r>
              <a:rPr lang="en-US" sz="1800" b="1" dirty="0">
                <a:effectLst/>
                <a:latin typeface="Helvetica" panose="020B06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 Final Prompt (AI Video Generator Compatible)</a:t>
            </a:r>
            <a:endParaRPr lang="en-US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0" marR="0"/>
            <a:r>
              <a:rPr lang="en-US" sz="1800" dirty="0">
                <a:effectLst/>
                <a:latin typeface="Helvetica" panose="020B06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"A 35-year-old professional Caucasian woman with blonde, shoulder-length hair and blue eyes. She has a slim build, no facial hair, and a calm, confident expression. She is wearing a white blouse, navy blazer, and a dark skirt above the knee with black closed-toe shoes. She stands upright in a modern office environment. The </a:t>
            </a:r>
            <a:r>
              <a:rPr lang="en-US" sz="1800" b="1" dirty="0">
                <a:effectLst/>
                <a:latin typeface="Helvetica" panose="020B06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AT&amp;T logo is clearly displayed in the background</a:t>
            </a:r>
            <a:r>
              <a:rPr lang="en-US" sz="1800" dirty="0">
                <a:effectLst/>
                <a:latin typeface="Helvetica" panose="020B06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. The camera stays static on her </a:t>
            </a:r>
            <a:r>
              <a:rPr lang="en-US" sz="1800" b="1" dirty="0">
                <a:effectLst/>
                <a:latin typeface="Helvetica" panose="020B06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entire body from foot to head</a:t>
            </a:r>
            <a:r>
              <a:rPr lang="en-US" sz="1800" dirty="0">
                <a:effectLst/>
                <a:latin typeface="Helvetica" panose="020B06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, including the floor, from the start to the end. She </a:t>
            </a:r>
            <a:r>
              <a:rPr lang="en-US" sz="1800" b="1" dirty="0">
                <a:effectLst/>
                <a:latin typeface="Helvetica" panose="020B06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says: 'Hello, world,' with visible mouth movement</a:t>
            </a:r>
            <a:r>
              <a:rPr lang="en-US" sz="1800" dirty="0">
                <a:effectLst/>
                <a:latin typeface="Helvetica" panose="020B06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. </a:t>
            </a:r>
            <a:r>
              <a:rPr lang="en-US" sz="1800">
                <a:effectLst/>
                <a:latin typeface="Helvetica" panose="020B06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No camera zoom or motion."</a:t>
            </a:r>
            <a:endParaRPr lang="en-US" sz="180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0" marR="0"/>
            <a:r>
              <a:rPr lang="en-US" sz="1800">
                <a:effectLst/>
                <a:latin typeface="Helvetica" panose="020B06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 </a:t>
            </a:r>
            <a:endParaRPr lang="en-US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904D8D-9B28-5087-592F-BF5263D307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E3109C-F841-A249-A33C-708B7DCDEF14}" type="slidenum">
              <a:rPr lang="en-US" smtClean="0"/>
              <a:t>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E26EC7-3CB6-4690-4C61-1C9ABAB32FF9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2022 5GIS Sponsor Summit / Nov 8, 2021 / © 2021 AT&amp;T - AT&amp;T Proprietary (Internal Use Only) - Shared under NDA </a:t>
            </a:r>
          </a:p>
        </p:txBody>
      </p:sp>
    </p:spTree>
    <p:extLst>
      <p:ext uri="{BB962C8B-B14F-4D97-AF65-F5344CB8AC3E}">
        <p14:creationId xmlns:p14="http://schemas.microsoft.com/office/powerpoint/2010/main" val="1650836177"/>
      </p:ext>
    </p:extLst>
  </p:cSld>
  <p:clrMapOvr>
    <a:masterClrMapping/>
  </p:clrMapOvr>
</p:sld>
</file>

<file path=ppt/theme/theme1.xml><?xml version="1.0" encoding="utf-8"?>
<a:theme xmlns:a="http://schemas.openxmlformats.org/drawingml/2006/main" name="1_ATTInternal052019">
  <a:themeElements>
    <a:clrScheme name="ATT 2019 theme and supporting palette">
      <a:dk1>
        <a:srgbClr val="000000"/>
      </a:dk1>
      <a:lt1>
        <a:srgbClr val="FFFFFF"/>
      </a:lt1>
      <a:dk2>
        <a:srgbClr val="009FDB"/>
      </a:dk2>
      <a:lt2>
        <a:srgbClr val="E5E5E5"/>
      </a:lt2>
      <a:accent1>
        <a:srgbClr val="0057B8"/>
      </a:accent1>
      <a:accent2>
        <a:srgbClr val="49EEDC"/>
      </a:accent2>
      <a:accent3>
        <a:srgbClr val="AF28BB"/>
      </a:accent3>
      <a:accent4>
        <a:srgbClr val="FFB000"/>
      </a:accent4>
      <a:accent5>
        <a:srgbClr val="91DC00"/>
      </a:accent5>
      <a:accent6>
        <a:srgbClr val="FF585D"/>
      </a:accent6>
      <a:hlink>
        <a:srgbClr val="0057B8"/>
      </a:hlink>
      <a:folHlink>
        <a:srgbClr val="0057B8"/>
      </a:folHlink>
    </a:clrScheme>
    <a:fontScheme name="ATT 2018">
      <a:majorFont>
        <a:latin typeface="ATT Aleck Sans" panose="020B0503020203020204" pitchFamily="34" charset="0"/>
        <a:ea typeface=""/>
        <a:cs typeface=""/>
      </a:majorFont>
      <a:minorFont>
        <a:latin typeface="ATT Aleck Sans" panose="020B0503020203020204" pitchFamily="34" charset="0"/>
        <a:ea typeface=""/>
        <a:cs typeface=""/>
      </a:minorFont>
    </a:fontScheme>
    <a:fmtScheme name="ATT 2018">
      <a:fillStyleLst>
        <a:solidFill>
          <a:srgbClr val="009FDB"/>
        </a:solidFill>
        <a:solidFill>
          <a:srgbClr val="009FDB"/>
        </a:solidFill>
        <a:solidFill>
          <a:srgbClr val="009FDB"/>
        </a:solidFill>
      </a:fillStyleLst>
      <a:lnStyleLst>
        <a:ln w="6350" cap="sq" cmpd="sng" algn="ctr">
          <a:solidFill>
            <a:schemeClr val="phClr"/>
          </a:solidFill>
          <a:prstDash val="solid"/>
        </a:ln>
        <a:ln w="6350" cap="sq" cmpd="sng" algn="ctr">
          <a:solidFill>
            <a:schemeClr val="phClr"/>
          </a:solidFill>
          <a:prstDash val="solid"/>
        </a:ln>
        <a:ln w="6350" cap="sq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ln w="12700">
          <a:solidFill>
            <a:schemeClr val="bg1"/>
          </a:solidFill>
        </a:ln>
      </a:spPr>
      <a:bodyPr rot="0" spcFirstLastPara="0" vertOverflow="overflow" horzOverflow="overflow" vert="horz" wrap="square" lIns="91440" tIns="91440" rIns="91440" bIns="91440" numCol="1" spcCol="0" rtlCol="0" fromWordArt="0" anchor="t" anchorCtr="0" forceAA="0" compatLnSpc="1">
        <a:prstTxWarp prst="textNoShape">
          <a:avLst/>
        </a:prstTxWarp>
        <a:normAutofit/>
      </a:bodyPr>
      <a:lstStyle>
        <a:defPPr marL="0" marR="0" indent="0" algn="l" defTabSz="457200" rtl="0" eaLnBrk="1" fontAlgn="auto" latinLnBrk="0" hangingPunct="1">
          <a:lnSpc>
            <a:spcPct val="100000"/>
          </a:lnSpc>
          <a:spcBef>
            <a:spcPts val="0"/>
          </a:spcBef>
          <a:spcAft>
            <a:spcPts val="800"/>
          </a:spcAft>
          <a:buClr>
            <a:schemeClr val="bg1"/>
          </a:buClr>
          <a:buSzTx/>
          <a:buFont typeface="ATT Aleck Sans" panose="020B0604020202020204" pitchFamily="34" charset="0"/>
          <a:buNone/>
          <a:tabLst/>
          <a:defRPr kumimoji="0" sz="2400" b="0" i="0" u="none" strike="noStrike" kern="1200" cap="none" spc="0" normalizeH="0" baseline="0" noProof="0" dirty="0" smtClean="0">
            <a:ln>
              <a:noFill/>
            </a:ln>
            <a:solidFill>
              <a:schemeClr val="bg1"/>
            </a:solidFill>
            <a:effectLst/>
            <a:uLnTx/>
            <a:uFillTx/>
            <a:latin typeface="+mn-lt"/>
            <a:ea typeface="+mn-ea"/>
            <a:cs typeface="ATT Aleck Sans" panose="020B0503020203020204" pitchFamily="34" charset="0"/>
          </a:defRPr>
        </a:defPPr>
      </a:lstStyle>
      <a:style>
        <a:lnRef idx="0">
          <a:schemeClr val="dk1"/>
        </a:lnRef>
        <a:fillRef idx="1">
          <a:schemeClr val="accent1"/>
        </a:fillRef>
        <a:effectRef idx="0">
          <a:schemeClr val="dk1"/>
        </a:effectRef>
        <a:fontRef idx="minor">
          <a:schemeClr val="lt1"/>
        </a:fontRef>
      </a:style>
    </a:spDef>
    <a:lnDef>
      <a:spPr>
        <a:ln w="6350" cap="sq"/>
      </a:spPr>
      <a:bodyPr/>
      <a:lstStyle/>
      <a:style>
        <a:lnRef idx="1">
          <a:schemeClr val="dk1"/>
        </a:lnRef>
        <a:fillRef idx="0">
          <a:schemeClr val="accent1"/>
        </a:fillRef>
        <a:effectRef idx="0">
          <a:schemeClr val="dk1"/>
        </a:effectRef>
        <a:fontRef idx="minor">
          <a:schemeClr val="lt1"/>
        </a:fontRef>
      </a:style>
    </a:lnDef>
    <a:txDef>
      <a:spPr>
        <a:noFill/>
      </a:spPr>
      <a:bodyPr wrap="square" lIns="0" tIns="0" rIns="0" bIns="0" rtlCol="0" anchor="t">
        <a:normAutofit/>
      </a:bodyPr>
      <a:lstStyle>
        <a:defPPr marL="0" marR="0" indent="0" algn="l" defTabSz="457200" rtl="0" eaLnBrk="1" fontAlgn="auto" latinLnBrk="0" hangingPunct="1">
          <a:lnSpc>
            <a:spcPct val="100000"/>
          </a:lnSpc>
          <a:spcBef>
            <a:spcPts val="0"/>
          </a:spcBef>
          <a:spcAft>
            <a:spcPts val="800"/>
          </a:spcAft>
          <a:buClr>
            <a:srgbClr val="000000"/>
          </a:buClr>
          <a:buSzTx/>
          <a:buFontTx/>
          <a:buNone/>
          <a:tabLst/>
          <a:defRPr kumimoji="0" sz="2400" b="0" i="0" u="none" strike="noStrike" kern="1200" cap="none" spc="0" normalizeH="0" baseline="0" noProof="0" dirty="0" smtClean="0">
            <a:ln>
              <a:noFill/>
            </a:ln>
            <a:solidFill>
              <a:schemeClr val="tx1"/>
            </a:solidFill>
            <a:effectLst/>
            <a:uLnTx/>
            <a:uFillTx/>
            <a:latin typeface="+mn-lt"/>
            <a:ea typeface="+mn-ea"/>
            <a:cs typeface="ATT Aleck Sans" panose="020B0503020203020204" pitchFamily="34" charset="0"/>
          </a:defRPr>
        </a:defPPr>
      </a:lstStyle>
    </a:txDef>
  </a:objectDefaults>
  <a:extraClrSchemeLst/>
  <a:custClrLst>
    <a:custClr name="Gray 5">
      <a:srgbClr val="E5E5E5"/>
    </a:custClr>
    <a:custClr name="Gray 2">
      <a:srgbClr val="D2D2D2"/>
    </a:custClr>
    <a:custClr name="Gray 3">
      <a:srgbClr val="959595"/>
    </a:custClr>
    <a:custClr name="Gray 4">
      <a:srgbClr val="5A5A5A"/>
    </a:custClr>
  </a:custClrLst>
  <a:extLst>
    <a:ext uri="{05A4C25C-085E-4340-85A3-A5531E510DB2}">
      <thm15:themeFamily xmlns:thm15="http://schemas.microsoft.com/office/thememl/2012/main" name="ATT_Day-To-Day_Template_Aleck_Embedded_Jan2021.potx" id="{874DE84E-C3E5-4430-9CC8-A5FD20D1698C}" vid="{5EFCC3E9-6948-4EA7-AAB7-C84C50E8465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CB845A9A2A4EB419A38ED5DD6BB9D33" ma:contentTypeVersion="7" ma:contentTypeDescription="Create a new document." ma:contentTypeScope="" ma:versionID="6981e9ba010cd2a04503ceaddd18ffc3">
  <xsd:schema xmlns:xsd="http://www.w3.org/2001/XMLSchema" xmlns:xs="http://www.w3.org/2001/XMLSchema" xmlns:p="http://schemas.microsoft.com/office/2006/metadata/properties" xmlns:ns2="44900af0-eddb-42e3-8f13-74ab927abd2c" targetNamespace="http://schemas.microsoft.com/office/2006/metadata/properties" ma:root="true" ma:fieldsID="5a6d5be6d18296028989e4e1c3c83f9d" ns2:_="">
    <xsd:import namespace="44900af0-eddb-42e3-8f13-74ab927abd2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4900af0-eddb-42e3-8f13-74ab927abd2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585E959-68BF-4C64-81C3-5572EAEC073E}">
  <ds:schemaRefs>
    <ds:schemaRef ds:uri="http://purl.org/dc/dcmitype/"/>
    <ds:schemaRef ds:uri="http://purl.org/dc/elements/1.1/"/>
    <ds:schemaRef ds:uri="http://schemas.microsoft.com/office/2006/metadata/properties"/>
    <ds:schemaRef ds:uri="http://purl.org/dc/terms/"/>
    <ds:schemaRef ds:uri="44900af0-eddb-42e3-8f13-74ab927abd2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F0D18DBF-E95B-481A-B034-569D9A0B39F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4900af0-eddb-42e3-8f13-74ab927abd2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A240A5D-19F5-418F-89E6-7EAE1728DE4D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e741d71c-c6b6-47b0-803c-0f3b32b07556}" enabled="0" method="" siteId="{e741d71c-c6b6-47b0-803c-0f3b32b07556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9428</TotalTime>
  <Words>2996</Words>
  <Application>Microsoft Office PowerPoint</Application>
  <PresentationFormat>Widescreen</PresentationFormat>
  <Paragraphs>425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2" baseType="lpstr">
      <vt:lpstr>Aptos</vt:lpstr>
      <vt:lpstr>Arial</vt:lpstr>
      <vt:lpstr>ATT Aleck Sans</vt:lpstr>
      <vt:lpstr>ATT Aleck Sans Medium</vt:lpstr>
      <vt:lpstr>Calibri</vt:lpstr>
      <vt:lpstr>Courier New</vt:lpstr>
      <vt:lpstr>Helvetica</vt:lpstr>
      <vt:lpstr>Segoe UI Emoji</vt:lpstr>
      <vt:lpstr>Symbol</vt:lpstr>
      <vt:lpstr>Times New Roman</vt:lpstr>
      <vt:lpstr>Wingdings</vt:lpstr>
      <vt:lpstr>1_ATTInternal052019</vt:lpstr>
      <vt:lpstr>AT&amp;T  Innovation Studio GenAI Video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Tools that make the Avator Move Lips (Basic Lip animation)</vt:lpstr>
      <vt:lpstr>Sora Limitations as 0f 2025</vt:lpstr>
      <vt:lpstr>Requirements </vt:lpstr>
      <vt:lpstr>D-ID tool</vt:lpstr>
      <vt:lpstr>Minutes 060425</vt:lpstr>
      <vt:lpstr>PowerPoint Presentation</vt:lpstr>
      <vt:lpstr>Female Template</vt:lpstr>
      <vt:lpstr>Male Template</vt:lpstr>
      <vt:lpstr>BACKGROUND</vt:lpstr>
      <vt:lpstr>Character and scene templates</vt:lpstr>
      <vt:lpstr>Character and scene templates</vt:lpstr>
    </vt:vector>
  </TitlesOfParts>
  <Company>AT&amp;T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Completed Projects</dc:title>
  <dc:creator>ALBRECHT, MICHAEL</dc:creator>
  <cp:lastModifiedBy>KHALIL, MOHAMED</cp:lastModifiedBy>
  <cp:revision>127</cp:revision>
  <dcterms:created xsi:type="dcterms:W3CDTF">2022-11-03T00:59:55Z</dcterms:created>
  <dcterms:modified xsi:type="dcterms:W3CDTF">2025-06-12T21:05:49Z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0x010100CCB845A9A2A4EB419A38ED5DD6BB9D33</vt:lpwstr>
  </property>
</Properties>
</file>